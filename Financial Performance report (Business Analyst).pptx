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306" r:id="rId2"/>
    <p:sldId id="307" r:id="rId3"/>
    <p:sldId id="308" r:id="rId4"/>
    <p:sldId id="309" r:id="rId5"/>
    <p:sldId id="310" r:id="rId6"/>
    <p:sldId id="311" r:id="rId7"/>
    <p:sldId id="312" r:id="rId8"/>
    <p:sldId id="313" r:id="rId9"/>
    <p:sldId id="314" r:id="rId10"/>
    <p:sldId id="315" r:id="rId11"/>
    <p:sldId id="316" r:id="rId12"/>
    <p:sldId id="267" r:id="rId13"/>
    <p:sldId id="268" r:id="rId14"/>
    <p:sldId id="30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01" autoAdjust="0"/>
    <p:restoredTop sz="86410" autoAdjust="0"/>
  </p:normalViewPr>
  <p:slideViewPr>
    <p:cSldViewPr snapToGrid="0" snapToObjects="1">
      <p:cViewPr varScale="1">
        <p:scale>
          <a:sx n="79" d="100"/>
          <a:sy n="79" d="100"/>
        </p:scale>
        <p:origin x="787" y="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12/28/2025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21B1108-7DCE-4863-AF46-899F93C74BD3}" type="slidenum">
              <a:rPr lang="en-IN" smtClean="0"/>
              <a:t>1</a:t>
            </a:fld>
            <a:endParaRPr lang="en-IN"/>
          </a:p>
        </p:txBody>
      </p:sp>
    </p:spTree>
    <p:extLst>
      <p:ext uri="{BB962C8B-B14F-4D97-AF65-F5344CB8AC3E}">
        <p14:creationId xmlns:p14="http://schemas.microsoft.com/office/powerpoint/2010/main" val="3890319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12/28/2025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app.powerbi.com/groups/me/reports/2097e242-f08d-46c0-b861-dfbca02dd64c/?pbi_source=PowerPoin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app.powerbi.com/groups/me/reports/2097e242-f08d-46c0-b861-dfbca02dd64c/?pbi_source=PowerPoin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app.powerbi.com/groups/me/reports/2097e242-f08d-46c0-b861-dfbca02dd64c/?pbi_source=PowerPoin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app.powerbi.com/groups/me/reports/2097e242-f08d-46c0-b861-dfbca02dd64c/?pbi_source=PowerPoin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pp.powerbi.com/groups/me/reports/04c54724-0d6a-4841-9fa1-62612dd8af08/?pbi_source=PowerPoin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18251-FF7C-30BB-9165-911311CF6497}"/>
              </a:ext>
            </a:extLst>
          </p:cNvPr>
          <p:cNvSpPr>
            <a:spLocks noGrp="1"/>
          </p:cNvSpPr>
          <p:nvPr>
            <p:ph type="ctrTitle"/>
          </p:nvPr>
        </p:nvSpPr>
        <p:spPr>
          <a:xfrm>
            <a:off x="738554" y="445355"/>
            <a:ext cx="9929446" cy="1462575"/>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chor="ctr" anchorCtr="0">
            <a:normAutofit/>
          </a:bodyPr>
          <a:lstStyle/>
          <a:p>
            <a:r>
              <a:rPr lang="en-IN" sz="3600" b="1" dirty="0">
                <a:solidFill>
                  <a:schemeClr val="accent5">
                    <a:lumMod val="50000"/>
                  </a:schemeClr>
                </a:solidFill>
                <a:latin typeface="Times New Roman" panose="02020603050405020304" pitchFamily="18" charset="0"/>
                <a:cs typeface="Times New Roman" panose="02020603050405020304" pitchFamily="18" charset="0"/>
              </a:rPr>
              <a:t>FINANCIAL PERFORMANCE DASHBOARD</a:t>
            </a:r>
          </a:p>
        </p:txBody>
      </p:sp>
      <p:sp>
        <p:nvSpPr>
          <p:cNvPr id="3" name="Subtitle 2">
            <a:extLst>
              <a:ext uri="{FF2B5EF4-FFF2-40B4-BE49-F238E27FC236}">
                <a16:creationId xmlns:a16="http://schemas.microsoft.com/office/drawing/2014/main" id="{AB317F35-F4ED-CA20-04AB-333062287B68}"/>
              </a:ext>
            </a:extLst>
          </p:cNvPr>
          <p:cNvSpPr>
            <a:spLocks noGrp="1"/>
          </p:cNvSpPr>
          <p:nvPr>
            <p:ph type="subTitle" idx="1"/>
          </p:nvPr>
        </p:nvSpPr>
        <p:spPr>
          <a:xfrm>
            <a:off x="1524000" y="2189285"/>
            <a:ext cx="9144000" cy="4501661"/>
          </a:xfrm>
          <a:noFill/>
          <a:ln>
            <a:noFill/>
          </a:ln>
        </p:spPr>
        <p:style>
          <a:lnRef idx="2">
            <a:schemeClr val="dk1"/>
          </a:lnRef>
          <a:fillRef idx="1">
            <a:schemeClr val="lt1"/>
          </a:fillRef>
          <a:effectRef idx="0">
            <a:schemeClr val="dk1"/>
          </a:effectRef>
          <a:fontRef idx="minor">
            <a:schemeClr val="dk1"/>
          </a:fontRef>
        </p:style>
        <p:txBody>
          <a:bodyPr>
            <a:noAutofit/>
          </a:bodyPr>
          <a:lstStyle/>
          <a:p>
            <a:pPr algn="l"/>
            <a:r>
              <a:rPr lang="en-IN" sz="2000" b="1" dirty="0">
                <a:solidFill>
                  <a:srgbClr val="0070C0"/>
                </a:solidFill>
                <a:latin typeface="Times New Roman" panose="02020603050405020304" pitchFamily="18" charset="0"/>
                <a:cs typeface="Times New Roman" panose="02020603050405020304" pitchFamily="18" charset="0"/>
              </a:rPr>
              <a:t>Domain: </a:t>
            </a:r>
            <a:r>
              <a:rPr lang="en-IN" sz="2000" dirty="0">
                <a:latin typeface="Times New Roman" panose="02020603050405020304" pitchFamily="18" charset="0"/>
                <a:cs typeface="Times New Roman" panose="02020603050405020304" pitchFamily="18" charset="0"/>
              </a:rPr>
              <a:t>Business Analyst/Finance Analyst</a:t>
            </a:r>
          </a:p>
          <a:p>
            <a:pPr algn="l"/>
            <a:br>
              <a:rPr lang="en-IN" sz="2000" dirty="0">
                <a:latin typeface="Times New Roman" panose="02020603050405020304" pitchFamily="18" charset="0"/>
                <a:cs typeface="Times New Roman" panose="02020603050405020304" pitchFamily="18" charset="0"/>
              </a:rPr>
            </a:br>
            <a:r>
              <a:rPr lang="en-IN" sz="2000" b="1" dirty="0">
                <a:solidFill>
                  <a:srgbClr val="0070C0"/>
                </a:solidFill>
                <a:latin typeface="Times New Roman" panose="02020603050405020304" pitchFamily="18" charset="0"/>
                <a:cs typeface="Times New Roman" panose="02020603050405020304" pitchFamily="18" charset="0"/>
              </a:rPr>
              <a:t>Tool Used:</a:t>
            </a:r>
            <a:r>
              <a:rPr lang="en-IN" sz="2000" dirty="0">
                <a:latin typeface="Times New Roman" panose="02020603050405020304" pitchFamily="18" charset="0"/>
                <a:cs typeface="Times New Roman" panose="02020603050405020304" pitchFamily="18" charset="0"/>
              </a:rPr>
              <a:t> Power BI</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br>
              <a:rPr lang="en-IN" sz="2000" dirty="0">
                <a:latin typeface="Times New Roman" panose="02020603050405020304" pitchFamily="18" charset="0"/>
                <a:cs typeface="Times New Roman" panose="02020603050405020304" pitchFamily="18" charset="0"/>
              </a:rPr>
            </a:br>
            <a:r>
              <a:rPr lang="en-IN" sz="2000" b="1" dirty="0">
                <a:solidFill>
                  <a:srgbClr val="0070C0"/>
                </a:solidFill>
                <a:latin typeface="Times New Roman" panose="02020603050405020304" pitchFamily="18" charset="0"/>
                <a:cs typeface="Times New Roman" panose="02020603050405020304" pitchFamily="18" charset="0"/>
              </a:rPr>
              <a:t>Dataset: </a:t>
            </a:r>
            <a:r>
              <a:rPr lang="en-IN" sz="2000" dirty="0">
                <a:latin typeface="Times New Roman" panose="02020603050405020304" pitchFamily="18" charset="0"/>
                <a:cs typeface="Times New Roman" panose="02020603050405020304" pitchFamily="18" charset="0"/>
              </a:rPr>
              <a:t>Microsoft Financial Sample dataset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br>
              <a:rPr lang="en-IN" sz="2000" dirty="0">
                <a:latin typeface="Times New Roman" panose="02020603050405020304" pitchFamily="18" charset="0"/>
                <a:cs typeface="Times New Roman" panose="02020603050405020304" pitchFamily="18" charset="0"/>
              </a:rPr>
            </a:br>
            <a:r>
              <a:rPr lang="en-IN" sz="2000" b="1" dirty="0">
                <a:solidFill>
                  <a:srgbClr val="0070C0"/>
                </a:solidFill>
                <a:latin typeface="Times New Roman" panose="02020603050405020304" pitchFamily="18" charset="0"/>
                <a:cs typeface="Times New Roman" panose="02020603050405020304" pitchFamily="18" charset="0"/>
              </a:rPr>
              <a:t>Project Level: </a:t>
            </a:r>
            <a:r>
              <a:rPr lang="en-IN" sz="2000" dirty="0">
                <a:latin typeface="Times New Roman" panose="02020603050405020304" pitchFamily="18" charset="0"/>
                <a:cs typeface="Times New Roman" panose="02020603050405020304" pitchFamily="18" charset="0"/>
              </a:rPr>
              <a:t> Intermediate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br>
              <a:rPr lang="en-IN" sz="2000" dirty="0">
                <a:latin typeface="Times New Roman" panose="02020603050405020304" pitchFamily="18" charset="0"/>
                <a:cs typeface="Times New Roman" panose="02020603050405020304" pitchFamily="18" charset="0"/>
              </a:rPr>
            </a:br>
            <a:r>
              <a:rPr lang="en-IN" sz="2000" b="1" dirty="0">
                <a:solidFill>
                  <a:srgbClr val="0070C0"/>
                </a:solidFill>
                <a:latin typeface="Times New Roman" panose="02020603050405020304" pitchFamily="18" charset="0"/>
                <a:cs typeface="Times New Roman" panose="02020603050405020304" pitchFamily="18" charset="0"/>
              </a:rPr>
              <a:t>Description:</a:t>
            </a:r>
            <a:endParaRPr lang="en-US" sz="2000"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Analyzes company financial performance using Power BI</a:t>
            </a:r>
          </a:p>
          <a:p>
            <a:pPr marL="342900" indent="-342900" algn="l">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Evaluates sales, profit, COGS, and discount impact</a:t>
            </a:r>
          </a:p>
          <a:p>
            <a:pPr marL="342900" indent="-342900" algn="l">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Supports data-driven business decision-making</a:t>
            </a:r>
          </a:p>
          <a:p>
            <a:pPr algn="l"/>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374433816"/>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7DC71-4221-C2F3-1DA7-2F5339B4C1CC}"/>
              </a:ext>
            </a:extLst>
          </p:cNvPr>
          <p:cNvSpPr>
            <a:spLocks noGrp="1"/>
          </p:cNvSpPr>
          <p:nvPr>
            <p:ph type="title"/>
          </p:nvPr>
        </p:nvSpPr>
        <p:spPr/>
        <p:txBody>
          <a:bodyPr anchor="ctr" anchorCtr="1">
            <a:normAutofit/>
          </a:bodyPr>
          <a:lstStyle/>
          <a:p>
            <a:r>
              <a:rPr lang="en-IN" sz="36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EF512385-691D-B71A-1A28-C742DB2A2212}"/>
              </a:ext>
            </a:extLst>
          </p:cNvPr>
          <p:cNvSpPr>
            <a:spLocks noGrp="1"/>
          </p:cNvSpPr>
          <p:nvPr>
            <p:ph idx="1"/>
          </p:nvPr>
        </p:nvSpPr>
        <p:spPr/>
        <p:txBody>
          <a:bodyPr>
            <a:normAutofit/>
          </a:bodyPr>
          <a:lstStyle/>
          <a:p>
            <a:pPr marL="0" indent="0">
              <a:buNone/>
            </a:pPr>
            <a:r>
              <a:rPr lang="en-US" sz="2000" b="1" dirty="0">
                <a:solidFill>
                  <a:srgbClr val="0070C0"/>
                </a:solidFill>
                <a:latin typeface="Times New Roman" panose="02020603050405020304" pitchFamily="18" charset="0"/>
                <a:cs typeface="Times New Roman" panose="02020603050405020304" pitchFamily="18" charset="0"/>
              </a:rPr>
              <a:t>Business Problem:</a:t>
            </a: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Organizations need a clear understanding of their financial performance across countries, products, segments, and time periods.</a:t>
            </a:r>
          </a:p>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Challenges Addressed:</a:t>
            </a:r>
            <a:endParaRPr lang="en-US" sz="2000" dirty="0">
              <a:solidFill>
                <a:srgbClr val="0070C0"/>
              </a:solidFill>
              <a:latin typeface="Times New Roman" panose="02020603050405020304" pitchFamily="18" charset="0"/>
              <a:cs typeface="Times New Roman" panose="02020603050405020304" pitchFamily="18" charset="0"/>
            </a:endParaRPr>
          </a:p>
          <a:p>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Understanding the impact of discounts on profit</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Tracking sales and profit trends over time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Identifying profitable segments and products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Comparing cost (COGS) vs revenue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395721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22D19-98B6-6DF7-ECC5-B03C6BF4B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DFA36-AFDB-62E0-7FB0-A8E974B6FD18}"/>
              </a:ext>
            </a:extLst>
          </p:cNvPr>
          <p:cNvSpPr>
            <a:spLocks noGrp="1"/>
          </p:cNvSpPr>
          <p:nvPr>
            <p:ph type="title"/>
          </p:nvPr>
        </p:nvSpPr>
        <p:spPr/>
        <p:txBody>
          <a:bodyPr anchor="ctr" anchorCtr="1">
            <a:normAutofit/>
          </a:bodyPr>
          <a:lstStyle/>
          <a:p>
            <a:r>
              <a:rPr lang="en-IN" sz="3600" b="1" dirty="0">
                <a:latin typeface="Times New Roman" panose="02020603050405020304" pitchFamily="18" charset="0"/>
                <a:cs typeface="Times New Roman" panose="02020603050405020304" pitchFamily="18" charset="0"/>
              </a:rPr>
              <a:t>PROJECT OBJECTIVES</a:t>
            </a:r>
          </a:p>
        </p:txBody>
      </p:sp>
      <p:sp>
        <p:nvSpPr>
          <p:cNvPr id="3" name="Content Placeholder 2">
            <a:extLst>
              <a:ext uri="{FF2B5EF4-FFF2-40B4-BE49-F238E27FC236}">
                <a16:creationId xmlns:a16="http://schemas.microsoft.com/office/drawing/2014/main" id="{99E7B45D-99EA-8C32-9773-6CAA73E873ED}"/>
              </a:ext>
            </a:extLst>
          </p:cNvPr>
          <p:cNvSpPr>
            <a:spLocks noGrp="1"/>
          </p:cNvSpPr>
          <p:nvPr>
            <p:ph idx="1"/>
          </p:nvPr>
        </p:nvSpPr>
        <p:spPr/>
        <p:txBody>
          <a:bodyPr>
            <a:normAutofit/>
          </a:bodyPr>
          <a:lstStyle/>
          <a:p>
            <a:pPr>
              <a:buFont typeface="Wingdings" panose="05000000000000000000" pitchFamily="2" charset="2"/>
              <a:buChar char="v"/>
            </a:pPr>
            <a:endParaRPr lang="en-US" sz="2000" b="1"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Objectives:</a:t>
            </a:r>
          </a:p>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Analyze total sales, profit, and COGS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Identify high-performing products and regions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Measure profit margin and YoY growth</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Provide interactive insights using Power BI visuals</a:t>
            </a:r>
          </a:p>
        </p:txBody>
      </p:sp>
    </p:spTree>
    <p:extLst>
      <p:ext uri="{BB962C8B-B14F-4D97-AF65-F5344CB8AC3E}">
        <p14:creationId xmlns:p14="http://schemas.microsoft.com/office/powerpoint/2010/main" val="256124593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E48C4-0E3B-C785-32F8-3171D8DA4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D61923-881A-8928-A92A-05BD5A026321}"/>
              </a:ext>
            </a:extLst>
          </p:cNvPr>
          <p:cNvSpPr>
            <a:spLocks noGrp="1"/>
          </p:cNvSpPr>
          <p:nvPr>
            <p:ph type="title"/>
          </p:nvPr>
        </p:nvSpPr>
        <p:spPr/>
        <p:txBody>
          <a:bodyPr anchor="ctr" anchorCtr="1">
            <a:normAutofit/>
          </a:bodyPr>
          <a:lstStyle/>
          <a:p>
            <a:r>
              <a:rPr lang="en-IN" sz="3600" b="1" dirty="0">
                <a:latin typeface="Times New Roman" panose="02020603050405020304" pitchFamily="18" charset="0"/>
                <a:cs typeface="Times New Roman" panose="02020603050405020304" pitchFamily="18" charset="0"/>
              </a:rPr>
              <a:t>DATA PREPARATION</a:t>
            </a:r>
          </a:p>
        </p:txBody>
      </p:sp>
      <p:sp>
        <p:nvSpPr>
          <p:cNvPr id="3" name="Content Placeholder 2">
            <a:extLst>
              <a:ext uri="{FF2B5EF4-FFF2-40B4-BE49-F238E27FC236}">
                <a16:creationId xmlns:a16="http://schemas.microsoft.com/office/drawing/2014/main" id="{41160959-1B44-3F73-18E2-5CA94F37BC04}"/>
              </a:ext>
            </a:extLst>
          </p:cNvPr>
          <p:cNvSpPr>
            <a:spLocks noGrp="1"/>
          </p:cNvSpPr>
          <p:nvPr>
            <p:ph idx="1"/>
          </p:nvPr>
        </p:nvSpPr>
        <p:spPr>
          <a:xfrm>
            <a:off x="838200" y="1825625"/>
            <a:ext cx="10515600" cy="4487252"/>
          </a:xfrm>
        </p:spPr>
        <p:txBody>
          <a:bodyPr>
            <a:normAutofit fontScale="85000" lnSpcReduction="20000"/>
          </a:bodyPr>
          <a:lstStyle/>
          <a:p>
            <a:pPr marL="0" indent="0">
              <a:buNone/>
            </a:pPr>
            <a:r>
              <a:rPr lang="en-US" sz="2000" b="1" dirty="0">
                <a:solidFill>
                  <a:srgbClr val="0070C0"/>
                </a:solidFill>
                <a:latin typeface="Times New Roman" panose="02020603050405020304" pitchFamily="18" charset="0"/>
                <a:cs typeface="Times New Roman" panose="02020603050405020304" pitchFamily="18" charset="0"/>
              </a:rPr>
              <a:t>Steps Performed:</a:t>
            </a:r>
          </a:p>
          <a:p>
            <a:pPr marL="0" indent="0">
              <a:buNone/>
            </a:pP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Imported dataset into Power BI</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Cleaned and validated data</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Created date hierarchy (Year, Month)</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Verified numeric and categorical fields</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Key Tables Used:</a:t>
            </a:r>
          </a:p>
          <a:p>
            <a:pPr marL="0" indent="0">
              <a:buNone/>
            </a:pP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Sales fact data</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Product, Country, Segment dimensions</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Purpose:</a:t>
            </a:r>
          </a:p>
          <a:p>
            <a:pPr marL="0" indent="0">
              <a:buNone/>
            </a:pPr>
            <a:r>
              <a:rPr lang="en-US" sz="2000" dirty="0">
                <a:latin typeface="Times New Roman" panose="02020603050405020304" pitchFamily="18" charset="0"/>
                <a:cs typeface="Times New Roman" panose="02020603050405020304" pitchFamily="18" charset="0"/>
              </a:rPr>
              <a:t>To ensure data accuracy, consistency, and analytical reliability.</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8066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AECF0-87AF-6602-C1D0-8D35B5D21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FDBB7-078C-68EE-63DE-5407060FFEDE}"/>
              </a:ext>
            </a:extLst>
          </p:cNvPr>
          <p:cNvSpPr>
            <a:spLocks noGrp="1"/>
          </p:cNvSpPr>
          <p:nvPr>
            <p:ph type="title"/>
          </p:nvPr>
        </p:nvSpPr>
        <p:spPr/>
        <p:txBody>
          <a:bodyPr anchor="ctr" anchorCtr="1">
            <a:normAutofit/>
          </a:bodyPr>
          <a:lstStyle/>
          <a:p>
            <a:r>
              <a:rPr lang="en-IN" sz="3600" b="1" dirty="0">
                <a:latin typeface="Times New Roman" panose="02020603050405020304" pitchFamily="18" charset="0"/>
                <a:cs typeface="Times New Roman" panose="02020603050405020304" pitchFamily="18" charset="0"/>
              </a:rPr>
              <a:t>CALCULATIONS &amp; KPIS (DAX)</a:t>
            </a:r>
          </a:p>
        </p:txBody>
      </p:sp>
      <p:sp>
        <p:nvSpPr>
          <p:cNvPr id="3" name="Content Placeholder 2">
            <a:extLst>
              <a:ext uri="{FF2B5EF4-FFF2-40B4-BE49-F238E27FC236}">
                <a16:creationId xmlns:a16="http://schemas.microsoft.com/office/drawing/2014/main" id="{CBDCEDAC-990A-AC32-50D5-FBEAFE408678}"/>
              </a:ext>
            </a:extLst>
          </p:cNvPr>
          <p:cNvSpPr>
            <a:spLocks noGrp="1"/>
          </p:cNvSpPr>
          <p:nvPr>
            <p:ph idx="1"/>
          </p:nvPr>
        </p:nvSpPr>
        <p:spPr/>
        <p:txBody>
          <a:bodyPr>
            <a:no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Key Measures Created:</a:t>
            </a:r>
          </a:p>
          <a:p>
            <a:pPr marL="0" indent="0">
              <a:buNone/>
            </a:pP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600" dirty="0">
                <a:solidFill>
                  <a:schemeClr val="accent2">
                    <a:lumMod val="75000"/>
                  </a:schemeClr>
                </a:solidFill>
                <a:latin typeface="Times New Roman" panose="02020603050405020304" pitchFamily="18" charset="0"/>
                <a:cs typeface="Times New Roman" panose="02020603050405020304" pitchFamily="18" charset="0"/>
              </a:rPr>
              <a:t>Total Sales</a:t>
            </a:r>
            <a:r>
              <a:rPr lang="en-US" sz="1400" dirty="0">
                <a:latin typeface="Times New Roman" panose="02020603050405020304" pitchFamily="18" charset="0"/>
                <a:cs typeface="Times New Roman" panose="02020603050405020304" pitchFamily="18" charset="0"/>
              </a:rPr>
              <a:t>=</a:t>
            </a:r>
            <a:r>
              <a:rPr lang="en-IN" sz="1400" dirty="0">
                <a:latin typeface="Times New Roman" panose="02020603050405020304" pitchFamily="18" charset="0"/>
                <a:cs typeface="Times New Roman" panose="02020603050405020304" pitchFamily="18" charset="0"/>
              </a:rPr>
              <a:t>SUM('FACT_ SALES'[Sales])</a:t>
            </a:r>
            <a:endParaRPr lang="en-US" sz="1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600" dirty="0">
                <a:solidFill>
                  <a:schemeClr val="accent2">
                    <a:lumMod val="75000"/>
                  </a:schemeClr>
                </a:solidFill>
                <a:latin typeface="Times New Roman" panose="02020603050405020304" pitchFamily="18" charset="0"/>
                <a:cs typeface="Times New Roman" panose="02020603050405020304" pitchFamily="18" charset="0"/>
              </a:rPr>
              <a:t>Total Profit</a:t>
            </a:r>
            <a:r>
              <a:rPr lang="en-US" sz="1400" dirty="0">
                <a:latin typeface="Times New Roman" panose="02020603050405020304" pitchFamily="18" charset="0"/>
                <a:cs typeface="Times New Roman" panose="02020603050405020304" pitchFamily="18" charset="0"/>
              </a:rPr>
              <a:t>=</a:t>
            </a:r>
            <a:r>
              <a:rPr lang="en-IN" sz="1400" dirty="0">
                <a:latin typeface="Times New Roman" panose="02020603050405020304" pitchFamily="18" charset="0"/>
                <a:cs typeface="Times New Roman" panose="02020603050405020304" pitchFamily="18" charset="0"/>
              </a:rPr>
              <a:t>SUM('FACT_ SALES'[Profit])</a:t>
            </a:r>
            <a:endParaRPr lang="en-US" sz="1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600" dirty="0">
                <a:solidFill>
                  <a:schemeClr val="accent2">
                    <a:lumMod val="75000"/>
                  </a:schemeClr>
                </a:solidFill>
                <a:latin typeface="Times New Roman" panose="02020603050405020304" pitchFamily="18" charset="0"/>
                <a:cs typeface="Times New Roman" panose="02020603050405020304" pitchFamily="18" charset="0"/>
              </a:rPr>
              <a:t>Total COGS</a:t>
            </a:r>
            <a:r>
              <a:rPr lang="en-US" sz="1400" dirty="0">
                <a:latin typeface="Times New Roman" panose="02020603050405020304" pitchFamily="18" charset="0"/>
                <a:cs typeface="Times New Roman" panose="02020603050405020304" pitchFamily="18" charset="0"/>
              </a:rPr>
              <a:t>=</a:t>
            </a:r>
            <a:r>
              <a:rPr lang="en-IN" sz="1400" dirty="0">
                <a:latin typeface="Times New Roman" panose="02020603050405020304" pitchFamily="18" charset="0"/>
                <a:cs typeface="Times New Roman" panose="02020603050405020304" pitchFamily="18" charset="0"/>
              </a:rPr>
              <a:t>SUM('FACT_ SALES'[COGS])</a:t>
            </a:r>
            <a:endParaRPr lang="en-US" sz="1400" dirty="0">
              <a:solidFill>
                <a:schemeClr val="accent2">
                  <a:lumMod val="7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600" dirty="0">
                <a:solidFill>
                  <a:schemeClr val="accent2">
                    <a:lumMod val="75000"/>
                  </a:schemeClr>
                </a:solidFill>
                <a:latin typeface="Times New Roman" panose="02020603050405020304" pitchFamily="18" charset="0"/>
                <a:cs typeface="Times New Roman" panose="02020603050405020304" pitchFamily="18" charset="0"/>
              </a:rPr>
              <a:t>Profit Margin %</a:t>
            </a:r>
            <a:r>
              <a:rPr lang="en-US" sz="1400" dirty="0">
                <a:latin typeface="Times New Roman" panose="02020603050405020304" pitchFamily="18" charset="0"/>
                <a:cs typeface="Times New Roman" panose="02020603050405020304" pitchFamily="18" charset="0"/>
              </a:rPr>
              <a:t>=DIVIDE([TOTAL_PROFIT],[TOTAL_SALES],0)</a:t>
            </a:r>
          </a:p>
          <a:p>
            <a:pPr>
              <a:buFont typeface="Wingdings" panose="05000000000000000000" pitchFamily="2" charset="2"/>
              <a:buChar char="v"/>
            </a:pPr>
            <a:r>
              <a:rPr lang="en-US" sz="1600" dirty="0">
                <a:solidFill>
                  <a:schemeClr val="accent2">
                    <a:lumMod val="75000"/>
                  </a:schemeClr>
                </a:solidFill>
                <a:latin typeface="Times New Roman" panose="02020603050405020304" pitchFamily="18" charset="0"/>
                <a:cs typeface="Times New Roman" panose="02020603050405020304" pitchFamily="18" charset="0"/>
              </a:rPr>
              <a:t>Sales YTD</a:t>
            </a:r>
            <a:r>
              <a:rPr lang="en-US" sz="1400" dirty="0">
                <a:latin typeface="Times New Roman" panose="02020603050405020304" pitchFamily="18" charset="0"/>
                <a:cs typeface="Times New Roman" panose="02020603050405020304" pitchFamily="18" charset="0"/>
              </a:rPr>
              <a:t>=TOTALYTD([TOTAL_SALES],'DIM_DATE'[Date])</a:t>
            </a:r>
          </a:p>
          <a:p>
            <a:pPr>
              <a:buFont typeface="Wingdings" panose="05000000000000000000" pitchFamily="2" charset="2"/>
              <a:buChar char="v"/>
            </a:pPr>
            <a:r>
              <a:rPr lang="en-US" sz="1600" dirty="0">
                <a:solidFill>
                  <a:schemeClr val="accent2">
                    <a:lumMod val="75000"/>
                  </a:schemeClr>
                </a:solidFill>
                <a:latin typeface="Times New Roman" panose="02020603050405020304" pitchFamily="18" charset="0"/>
                <a:cs typeface="Times New Roman" panose="02020603050405020304" pitchFamily="18" charset="0"/>
              </a:rPr>
              <a:t>Year-over-Year Growth</a:t>
            </a:r>
            <a:r>
              <a:rPr lang="en-US" sz="1400" dirty="0">
                <a:latin typeface="Times New Roman" panose="02020603050405020304" pitchFamily="18" charset="0"/>
                <a:cs typeface="Times New Roman" panose="02020603050405020304" pitchFamily="18" charset="0"/>
              </a:rPr>
              <a:t>=DIVIDE([TOTAL_SALES]-[SALES LY],[SALES LY],0)</a:t>
            </a:r>
          </a:p>
          <a:p>
            <a:pPr>
              <a:buFont typeface="Wingdings" panose="05000000000000000000" pitchFamily="2" charset="2"/>
              <a:buChar char="v"/>
            </a:pPr>
            <a:r>
              <a:rPr lang="en-US" sz="1600" dirty="0">
                <a:solidFill>
                  <a:schemeClr val="accent2">
                    <a:lumMod val="75000"/>
                  </a:schemeClr>
                </a:solidFill>
                <a:latin typeface="Times New Roman" panose="02020603050405020304" pitchFamily="18" charset="0"/>
                <a:cs typeface="Times New Roman" panose="02020603050405020304" pitchFamily="18" charset="0"/>
              </a:rPr>
              <a:t>COGS Ratio</a:t>
            </a:r>
            <a:r>
              <a:rPr lang="en-US" sz="1400" dirty="0">
                <a:latin typeface="Times New Roman" panose="02020603050405020304" pitchFamily="18" charset="0"/>
                <a:cs typeface="Times New Roman" panose="02020603050405020304" pitchFamily="18" charset="0"/>
              </a:rPr>
              <a:t>=DIVIDE([TOTAL_COGTOTAL_SALES],0)</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solidFill>
                  <a:srgbClr val="0070C0"/>
                </a:solidFill>
                <a:latin typeface="Times New Roman" panose="02020603050405020304" pitchFamily="18" charset="0"/>
                <a:cs typeface="Times New Roman" panose="02020603050405020304" pitchFamily="18" charset="0"/>
              </a:rPr>
              <a:t>Purpose:</a:t>
            </a:r>
          </a:p>
          <a:p>
            <a:pPr marL="0" indent="0">
              <a:buNone/>
            </a:pPr>
            <a:r>
              <a:rPr lang="en-US" sz="1400" dirty="0">
                <a:latin typeface="Times New Roman" panose="02020603050405020304" pitchFamily="18" charset="0"/>
                <a:cs typeface="Times New Roman" panose="02020603050405020304" pitchFamily="18" charset="0"/>
              </a:rPr>
              <a:t>                 To convert raw data into meaningful financial metrics.</a:t>
            </a:r>
          </a:p>
        </p:txBody>
      </p:sp>
    </p:spTree>
    <p:extLst>
      <p:ext uri="{BB962C8B-B14F-4D97-AF65-F5344CB8AC3E}">
        <p14:creationId xmlns:p14="http://schemas.microsoft.com/office/powerpoint/2010/main" val="156443803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34428-43C0-F8A9-E6B3-8F87534141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82C538-1248-FD05-12D3-DE60B50C9A5E}"/>
              </a:ext>
            </a:extLst>
          </p:cNvPr>
          <p:cNvSpPr>
            <a:spLocks noGrp="1"/>
          </p:cNvSpPr>
          <p:nvPr>
            <p:ph type="title"/>
          </p:nvPr>
        </p:nvSpPr>
        <p:spPr/>
        <p:txBody>
          <a:bodyPr anchor="ctr" anchorCtr="1">
            <a:normAutofit/>
          </a:bodyPr>
          <a:lstStyle/>
          <a:p>
            <a:r>
              <a:rPr lang="en-IN" sz="3600" b="1" dirty="0">
                <a:latin typeface="Times New Roman" panose="02020603050405020304" pitchFamily="18" charset="0"/>
                <a:cs typeface="Times New Roman" panose="02020603050405020304" pitchFamily="18" charset="0"/>
              </a:rPr>
              <a:t>VISUALIZATION TECHNIQUES</a:t>
            </a:r>
          </a:p>
        </p:txBody>
      </p:sp>
      <p:sp>
        <p:nvSpPr>
          <p:cNvPr id="3" name="Content Placeholder 2">
            <a:extLst>
              <a:ext uri="{FF2B5EF4-FFF2-40B4-BE49-F238E27FC236}">
                <a16:creationId xmlns:a16="http://schemas.microsoft.com/office/drawing/2014/main" id="{A8FBED76-E81A-1958-C399-6C03CE96DD25}"/>
              </a:ext>
            </a:extLst>
          </p:cNvPr>
          <p:cNvSpPr>
            <a:spLocks noGrp="1"/>
          </p:cNvSpPr>
          <p:nvPr>
            <p:ph idx="1"/>
          </p:nvPr>
        </p:nvSpPr>
        <p:spPr/>
        <p:txBody>
          <a:bodyPr>
            <a:normAutofit fontScale="85000" lnSpcReduction="20000"/>
          </a:bodyPr>
          <a:lstStyle/>
          <a:p>
            <a:pPr marL="0" indent="0">
              <a:buNone/>
            </a:pPr>
            <a:r>
              <a:rPr lang="en-US" sz="2000" b="1" dirty="0">
                <a:solidFill>
                  <a:srgbClr val="0070C0"/>
                </a:solidFill>
                <a:latin typeface="Times New Roman" panose="02020603050405020304" pitchFamily="18" charset="0"/>
                <a:cs typeface="Times New Roman" panose="02020603050405020304" pitchFamily="18" charset="0"/>
              </a:rPr>
              <a:t>Visuals Used:</a:t>
            </a:r>
          </a:p>
          <a:p>
            <a:pPr marL="0" indent="0">
              <a:buNone/>
            </a:pP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KPI Cards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Bar Charts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Line Charts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Scatter Plots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Waterfall Chart</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Matrix Table</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Interactivity:</a:t>
            </a:r>
          </a:p>
          <a:p>
            <a:pPr marL="0" indent="0">
              <a:buNone/>
            </a:pP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Slicers (Country, Segment, Year, Product)</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Drill-down analysis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Clear slicer button</a:t>
            </a:r>
          </a:p>
        </p:txBody>
      </p:sp>
    </p:spTree>
    <p:extLst>
      <p:ext uri="{BB962C8B-B14F-4D97-AF65-F5344CB8AC3E}">
        <p14:creationId xmlns:p14="http://schemas.microsoft.com/office/powerpoint/2010/main" val="285727262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393" y="149469"/>
            <a:ext cx="11558129" cy="6550269"/>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Dashboard Highlights:</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Overall financial summary</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Key KPIs displayed at the top </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Interactive filters for dynamic analysis</a:t>
            </a:r>
          </a:p>
          <a:p>
            <a:pPr marL="0" indent="0">
              <a:buNone/>
            </a:pPr>
            <a:r>
              <a:rPr lang="en-US" sz="1400" b="1" dirty="0">
                <a:solidFill>
                  <a:srgbClr val="0070C0"/>
                </a:solidFill>
                <a:latin typeface="Times New Roman" panose="02020603050405020304" pitchFamily="18" charset="0"/>
                <a:cs typeface="Times New Roman" panose="02020603050405020304" pitchFamily="18" charset="0"/>
              </a:rPr>
              <a:t>Purpose:</a:t>
            </a:r>
            <a:endParaRPr lang="en-US" sz="1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Enable quick executive-level understanding and decision-making.</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p:txBody>
      </p:sp>
      <p:pic>
        <p:nvPicPr>
          <p:cNvPr id="4" name="Content Placeholder 3"/>
          <p:cNvPicPr>
            <a:picLocks noChangeAspect="1"/>
          </p:cNvPicPr>
          <p:nvPr/>
        </p:nvPicPr>
        <p:blipFill>
          <a:blip r:embed="rId2"/>
          <a:stretch>
            <a:fillRect/>
          </a:stretch>
        </p:blipFill>
        <p:spPr>
          <a:xfrm>
            <a:off x="987668" y="2048608"/>
            <a:ext cx="10366131" cy="465992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1692" y="184638"/>
            <a:ext cx="11002108" cy="6541477"/>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Insights:</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Government and Small Business segments generate higher profits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Discounts directly affect profit margins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Sales trend shows consistent growth over time</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p:txBody>
      </p:sp>
      <p:pic>
        <p:nvPicPr>
          <p:cNvPr id="4" name="Picture" title="This slide contains the following visuals: SALES BY COUNTRY ,PROFIT BY SEGMENT  ,slicer ,SALES TRENDS OVER TIME ,GROSS SALES VS DISCOUNT ,slicer ,shape ,slicer ,slicer ,slicer ,slicer ,slicer. Please refer to the notes on this slide for details">
            <a:hlinkClick r:id="rId2"/>
          </p:cNvPr>
          <p:cNvPicPr>
            <a:picLocks noChangeAspect="1"/>
          </p:cNvPicPr>
          <p:nvPr/>
        </p:nvPicPr>
        <p:blipFill>
          <a:blip r:embed="rId3"/>
          <a:stretch>
            <a:fillRect/>
          </a:stretch>
        </p:blipFill>
        <p:spPr>
          <a:xfrm>
            <a:off x="479181" y="1450731"/>
            <a:ext cx="11002108" cy="5275384"/>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5315" y="123092"/>
            <a:ext cx="11509131" cy="6611816"/>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Insights:</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Amarilla and Paseo have higher profit margins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Top products contribute major share of revenue</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Discount bands significantly impact product sales</a:t>
            </a:r>
          </a:p>
        </p:txBody>
      </p:sp>
      <p:pic>
        <p:nvPicPr>
          <p:cNvPr id="4" name="Picture" title="This slide contains the following visuals: TOP 10 PRODUCTS BY SALES ,PROFIT MARGIN BY PRODUCT ,SALES BY PRODUCT AND DISCOUNT BAND ,shape ,slicer ,slicer ,slicer ,slicer ,slicer ,slicer. Please refer to the notes on this slide for details">
            <a:hlinkClick r:id="rId2"/>
          </p:cNvPr>
          <p:cNvPicPr>
            <a:picLocks noChangeAspect="1"/>
          </p:cNvPicPr>
          <p:nvPr/>
        </p:nvPicPr>
        <p:blipFill>
          <a:blip r:embed="rId3"/>
          <a:stretch>
            <a:fillRect/>
          </a:stretch>
        </p:blipFill>
        <p:spPr>
          <a:xfrm>
            <a:off x="1106365" y="1424354"/>
            <a:ext cx="9451731" cy="5310554"/>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4977" y="149470"/>
            <a:ext cx="11597054" cy="6572006"/>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Insights:</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USA and Canada are top revenue contributors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Enterprise segment shows higher COGS ratio</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Channel Partners maintain better cost efficiency</a:t>
            </a:r>
          </a:p>
        </p:txBody>
      </p:sp>
      <p:pic>
        <p:nvPicPr>
          <p:cNvPr id="4" name="Picture" title="This slide contains the following visuals: SALES VS COGS ,slicer ,shape ,PROFIT MARGIN BY SEGMENT ,clusteredBarChart ,TOTAL SALES BY CATEGORY ,slicer ,slicer ,slicer ,slicer ,slicer. Please refer to the notes on this slide for details">
            <a:hlinkClick r:id="rId2"/>
          </p:cNvPr>
          <p:cNvPicPr>
            <a:picLocks noChangeAspect="1"/>
          </p:cNvPicPr>
          <p:nvPr/>
        </p:nvPicPr>
        <p:blipFill>
          <a:blip r:embed="rId3"/>
          <a:stretch>
            <a:fillRect/>
          </a:stretch>
        </p:blipFill>
        <p:spPr>
          <a:xfrm>
            <a:off x="1468315" y="1397977"/>
            <a:ext cx="8695592" cy="5213839"/>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1015" y="145318"/>
            <a:ext cx="11755316" cy="6567364"/>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Insights:</a:t>
            </a:r>
            <a:endParaRPr lang="en-US" sz="1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Sales and profit show positive YoY growth</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YTD sales steadily increase across months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Profit margin remains stable with seasonal variation</a:t>
            </a:r>
          </a:p>
        </p:txBody>
      </p:sp>
      <p:pic>
        <p:nvPicPr>
          <p:cNvPr id="4" name="Picture" title="This slide contains the following visuals: SALES YTD ,shape ,slicer ,slicer ,slicer ,slicer ,slicer ,slicer ,TOTAL PROFIT and PROFIT MARGIN %  ,PROFIT MARGIN % and YOY GROWTH % ,SALES VS SALES LY  ,PROFIT VS PROFIT LY  ,DISCOUNT VS DISCOUNT LY ,COGS RATIO VS COGS%. Please refer to the notes on this slide for details">
            <a:hlinkClick r:id="rId2"/>
          </p:cNvPr>
          <p:cNvPicPr>
            <a:picLocks noChangeAspect="1"/>
          </p:cNvPicPr>
          <p:nvPr/>
        </p:nvPicPr>
        <p:blipFill>
          <a:blip r:embed="rId3"/>
          <a:stretch>
            <a:fillRect/>
          </a:stretch>
        </p:blipFill>
        <p:spPr>
          <a:xfrm>
            <a:off x="1116622" y="1362808"/>
            <a:ext cx="9812216" cy="5349874"/>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D5684-DC39-F3FC-25D4-9F708CDC96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DBF211-ACF3-E414-EF03-725D5A36BA83}"/>
              </a:ext>
            </a:extLst>
          </p:cNvPr>
          <p:cNvSpPr>
            <a:spLocks noGrp="1"/>
          </p:cNvSpPr>
          <p:nvPr>
            <p:ph type="title"/>
          </p:nvPr>
        </p:nvSpPr>
        <p:spPr/>
        <p:txBody>
          <a:bodyPr anchor="ctr" anchorCtr="1">
            <a:normAutofit/>
          </a:bodyPr>
          <a:lstStyle/>
          <a:p>
            <a:r>
              <a:rPr lang="en-IN" sz="3200" b="1" dirty="0">
                <a:latin typeface="Times New Roman" panose="02020603050405020304" pitchFamily="18" charset="0"/>
                <a:cs typeface="Times New Roman" panose="02020603050405020304" pitchFamily="18" charset="0"/>
              </a:rPr>
              <a:t>KEY FINDINGS</a:t>
            </a:r>
          </a:p>
        </p:txBody>
      </p:sp>
      <p:sp>
        <p:nvSpPr>
          <p:cNvPr id="3" name="Content Placeholder 2">
            <a:extLst>
              <a:ext uri="{FF2B5EF4-FFF2-40B4-BE49-F238E27FC236}">
                <a16:creationId xmlns:a16="http://schemas.microsoft.com/office/drawing/2014/main" id="{69F41A06-AB07-3EA8-15AB-D4BACD51D4D8}"/>
              </a:ext>
            </a:extLst>
          </p:cNvPr>
          <p:cNvSpPr>
            <a:spLocks noGrp="1"/>
          </p:cNvSpPr>
          <p:nvPr>
            <p:ph idx="1"/>
          </p:nvPr>
        </p:nvSpPr>
        <p:spPr/>
        <p:txBody>
          <a:bodyPr>
            <a:normAutofit/>
          </a:bodyPr>
          <a:lstStyle/>
          <a:p>
            <a:pPr marL="0" indent="0">
              <a:buNone/>
            </a:pPr>
            <a:r>
              <a:rPr lang="en-US" sz="2000" b="1" dirty="0">
                <a:solidFill>
                  <a:srgbClr val="0070C0"/>
                </a:solidFill>
                <a:latin typeface="Times New Roman" panose="02020603050405020304" pitchFamily="18" charset="0"/>
                <a:cs typeface="Times New Roman" panose="02020603050405020304" pitchFamily="18" charset="0"/>
              </a:rPr>
              <a:t>Key Findings:</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Government segment is the most profitable contributor</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Certain products yield high margins but lower sales volume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Discount optimization is critical to protect profitability</a:t>
            </a:r>
          </a:p>
        </p:txBody>
      </p:sp>
    </p:spTree>
    <p:extLst>
      <p:ext uri="{BB962C8B-B14F-4D97-AF65-F5344CB8AC3E}">
        <p14:creationId xmlns:p14="http://schemas.microsoft.com/office/powerpoint/2010/main" val="425961064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F33A0-A5BF-703B-3C32-EE86C5107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07B52-62F9-9906-93D8-1D52033D5371}"/>
              </a:ext>
            </a:extLst>
          </p:cNvPr>
          <p:cNvSpPr>
            <a:spLocks noGrp="1"/>
          </p:cNvSpPr>
          <p:nvPr>
            <p:ph type="title"/>
          </p:nvPr>
        </p:nvSpPr>
        <p:spPr/>
        <p:txBody>
          <a:bodyPr anchor="ctr" anchorCtr="1">
            <a:normAutofit/>
          </a:bodyPr>
          <a:lstStyle/>
          <a:p>
            <a:r>
              <a:rPr lang="en-IN" sz="3200" b="1" dirty="0">
                <a:latin typeface="Times New Roman" panose="02020603050405020304" pitchFamily="18" charset="0"/>
                <a:cs typeface="Times New Roman" panose="02020603050405020304" pitchFamily="18" charset="0"/>
              </a:rPr>
              <a:t>CONCLUSION &amp; FUTURE SCOPE</a:t>
            </a:r>
          </a:p>
        </p:txBody>
      </p:sp>
      <p:sp>
        <p:nvSpPr>
          <p:cNvPr id="3" name="Content Placeholder 2">
            <a:extLst>
              <a:ext uri="{FF2B5EF4-FFF2-40B4-BE49-F238E27FC236}">
                <a16:creationId xmlns:a16="http://schemas.microsoft.com/office/drawing/2014/main" id="{1E004946-5DF3-F07C-C9B5-9E729D4A31FA}"/>
              </a:ext>
            </a:extLst>
          </p:cNvPr>
          <p:cNvSpPr>
            <a:spLocks noGrp="1"/>
          </p:cNvSpPr>
          <p:nvPr>
            <p:ph idx="1"/>
          </p:nvPr>
        </p:nvSpPr>
        <p:spPr/>
        <p:txBody>
          <a:bodyPr>
            <a:normAutofit/>
          </a:bodyPr>
          <a:lstStyle/>
          <a:p>
            <a:pPr marL="0" indent="0">
              <a:buNone/>
            </a:pPr>
            <a:r>
              <a:rPr lang="en-US" sz="2000" b="1" dirty="0">
                <a:solidFill>
                  <a:srgbClr val="0070C0"/>
                </a:solidFill>
                <a:latin typeface="Times New Roman" panose="02020603050405020304" pitchFamily="18" charset="0"/>
                <a:cs typeface="Times New Roman" panose="02020603050405020304" pitchFamily="18" charset="0"/>
              </a:rPr>
              <a:t>Conclusion:</a:t>
            </a:r>
          </a:p>
          <a:p>
            <a:pPr marL="0" indent="0">
              <a:buNone/>
            </a:pP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Power BI dashboard provides clear financial visibility</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Helps stakeholders make informed decisions</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Future Enhancements:</a:t>
            </a:r>
          </a:p>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Forecasting models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Advanced profitability scenarios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Integration with real-time data</a:t>
            </a:r>
          </a:p>
        </p:txBody>
      </p:sp>
    </p:spTree>
    <p:extLst>
      <p:ext uri="{BB962C8B-B14F-4D97-AF65-F5344CB8AC3E}">
        <p14:creationId xmlns:p14="http://schemas.microsoft.com/office/powerpoint/2010/main" val="366871412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223" y="184641"/>
            <a:ext cx="11658600" cy="6488720"/>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Insights:</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Revenue YTD: 577.60K</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Rolling 3-month revenue trends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Stable revenue pattern with minor fluctuations</a:t>
            </a:r>
          </a:p>
          <a:p>
            <a:pPr marL="0" indent="0">
              <a:buNone/>
            </a:pPr>
            <a:r>
              <a:rPr lang="en-US" sz="1400" b="1" dirty="0">
                <a:solidFill>
                  <a:srgbClr val="0070C0"/>
                </a:solidFill>
                <a:latin typeface="Times New Roman" panose="02020603050405020304" pitchFamily="18" charset="0"/>
                <a:cs typeface="Times New Roman" panose="02020603050405020304" pitchFamily="18" charset="0"/>
              </a:rPr>
              <a:t>Business Insight:</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Helps track growth patterns and seasonality over time</a:t>
            </a:r>
          </a:p>
          <a:p>
            <a:pPr>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p:txBody>
      </p:sp>
      <p:pic>
        <p:nvPicPr>
          <p:cNvPr id="4" name="Picture" title="This slide contains the following visuals: shape ,slicer ,slicer ,REVENUE YTD ,slicer ,REVENUE TREND ,slicer. Please refer to the notes on this slide for details">
            <a:hlinkClick r:id="rId2"/>
          </p:cNvPr>
          <p:cNvPicPr>
            <a:picLocks noChangeAspect="1"/>
          </p:cNvPicPr>
          <p:nvPr/>
        </p:nvPicPr>
        <p:blipFill>
          <a:blip r:embed="rId3"/>
          <a:stretch>
            <a:fillRect/>
          </a:stretch>
        </p:blipFill>
        <p:spPr>
          <a:xfrm>
            <a:off x="1534255" y="2136532"/>
            <a:ext cx="8853854" cy="4536828"/>
          </a:xfrm>
          <a:prstGeom prst="rect">
            <a:avLst/>
          </a:prstGeom>
          <a:noFill/>
        </p:spPr>
      </p:pic>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554</Words>
  <Application>Microsoft Office PowerPoint</Application>
  <PresentationFormat>Widescreen</PresentationFormat>
  <Paragraphs>115</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Times New Roman</vt:lpstr>
      <vt:lpstr>Wingdings</vt:lpstr>
      <vt:lpstr>Custom Design</vt:lpstr>
      <vt:lpstr>FINANCIAL PERFORMANCE DASHBOARD</vt:lpstr>
      <vt:lpstr>PROBLEM STATEMENT</vt:lpstr>
      <vt:lpstr>PROJECT OBJECTIVES</vt:lpstr>
      <vt:lpstr>DATA PREPARATION</vt:lpstr>
      <vt:lpstr>CALCULATIONS &amp; KPIS (DAX)</vt:lpstr>
      <vt:lpstr>VISUALIZATION TECHNIQUES</vt:lpstr>
      <vt:lpstr>PowerPoint Presentation</vt:lpstr>
      <vt:lpstr>PowerPoint Presentation</vt:lpstr>
      <vt:lpstr>PowerPoint Presentation</vt:lpstr>
      <vt:lpstr>PowerPoint Presentation</vt:lpstr>
      <vt:lpstr>PowerPoint Presentation</vt:lpstr>
      <vt:lpstr>KEY FINDINGS</vt:lpstr>
      <vt:lpstr>CONCLUSION &amp;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HARISH  V</cp:lastModifiedBy>
  <cp:revision>6</cp:revision>
  <dcterms:created xsi:type="dcterms:W3CDTF">2016-09-04T11:54:00Z</dcterms:created>
  <dcterms:modified xsi:type="dcterms:W3CDTF">2025-12-28T17:00:36Z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07F80B94BEA34FF6977CCCCF478B5413_13</vt:lpwstr>
  </property>
  <property fmtid="{D5CDD505-2E9C-101B-9397-08002B2CF9AE}" pid="3" name="KSOProductBuildVer">
    <vt:lpwstr>1033-12.2.0.23196</vt:lpwstr>
  </property>
</Properties>
</file>