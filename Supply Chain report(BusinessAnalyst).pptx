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94" r:id="rId2"/>
    <p:sldId id="295" r:id="rId3"/>
    <p:sldId id="296" r:id="rId4"/>
    <p:sldId id="297" r:id="rId5"/>
    <p:sldId id="298" r:id="rId6"/>
    <p:sldId id="299" r:id="rId7"/>
    <p:sldId id="322" r:id="rId8"/>
    <p:sldId id="323" r:id="rId9"/>
    <p:sldId id="324" r:id="rId10"/>
    <p:sldId id="325" r:id="rId11"/>
    <p:sldId id="326" r:id="rId12"/>
    <p:sldId id="327" r:id="rId13"/>
    <p:sldId id="306" r:id="rId14"/>
    <p:sldId id="30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79" autoAdjust="0"/>
    <p:restoredTop sz="86410" autoAdjust="0"/>
  </p:normalViewPr>
  <p:slideViewPr>
    <p:cSldViewPr snapToGrid="0" snapToObjects="1">
      <p:cViewPr varScale="1">
        <p:scale>
          <a:sx n="79" d="100"/>
          <a:sy n="79" d="100"/>
        </p:scale>
        <p:origin x="653" y="7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12/28/2025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12/28/2025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12/28/2025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12/28/2025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12/28/2025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app.powerbi.com/groups/me/reports/04c54724-0d6a-4841-9fa1-62612dd8af08/?pbi_source=PowerPoint"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app.powerbi.com/groups/me/reports/04c54724-0d6a-4841-9fa1-62612dd8af08/?pbi_source=PowerPoint"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app.powerbi.com/groups/me/reports/04c54724-0d6a-4841-9fa1-62612dd8af08/?pbi_source=PowerPoin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app.powerbi.com/groups/me/reports/04c54724-0d6a-4841-9fa1-62612dd8af08/?pbi_source=PowerPoin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app.powerbi.com/groups/me/reports/04c54724-0d6a-4841-9fa1-62612dd8af08/?pbi_source=PowerPoin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app.powerbi.com/groups/me/reports/04c54724-0d6a-4841-9fa1-62612dd8af08/?pbi_source=PowerPoint"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7BAAF-2B79-88CD-301C-59F8A863F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8E7685-75EE-D425-7ABB-45FF23A78B86}"/>
              </a:ext>
            </a:extLst>
          </p:cNvPr>
          <p:cNvSpPr>
            <a:spLocks noGrp="1"/>
          </p:cNvSpPr>
          <p:nvPr>
            <p:ph type="title"/>
          </p:nvPr>
        </p:nvSpPr>
        <p:spPr>
          <a:xfrm>
            <a:off x="703382" y="422032"/>
            <a:ext cx="10515600" cy="751499"/>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ormAutofit/>
          </a:bodyPr>
          <a:lstStyle/>
          <a:p>
            <a:pPr algn="ctr"/>
            <a:r>
              <a:rPr lang="en-IN" sz="3600" b="1" dirty="0">
                <a:solidFill>
                  <a:schemeClr val="accent5">
                    <a:lumMod val="50000"/>
                  </a:schemeClr>
                </a:solidFill>
                <a:latin typeface="Times New Roman" panose="02020603050405020304" pitchFamily="18" charset="0"/>
                <a:cs typeface="Times New Roman" panose="02020603050405020304" pitchFamily="18" charset="0"/>
              </a:rPr>
              <a:t>SUPPLY CHAIN MANAGEMENT DASHBOARD</a:t>
            </a:r>
          </a:p>
        </p:txBody>
      </p:sp>
      <p:sp>
        <p:nvSpPr>
          <p:cNvPr id="3" name="Content Placeholder 2">
            <a:extLst>
              <a:ext uri="{FF2B5EF4-FFF2-40B4-BE49-F238E27FC236}">
                <a16:creationId xmlns:a16="http://schemas.microsoft.com/office/drawing/2014/main" id="{B5556589-C73C-D955-290A-EE8AA86B5CC9}"/>
              </a:ext>
            </a:extLst>
          </p:cNvPr>
          <p:cNvSpPr>
            <a:spLocks noGrp="1"/>
          </p:cNvSpPr>
          <p:nvPr>
            <p:ph idx="1"/>
          </p:nvPr>
        </p:nvSpPr>
        <p:spPr>
          <a:xfrm>
            <a:off x="615459" y="1485899"/>
            <a:ext cx="10515599" cy="5029201"/>
          </a:xfrm>
        </p:spPr>
        <p:txBody>
          <a:bodyPr>
            <a:normAutofit lnSpcReduction="10000"/>
          </a:bodyPr>
          <a:lstStyle/>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Domain:</a:t>
            </a:r>
            <a:r>
              <a:rPr lang="en-US" sz="2000" dirty="0">
                <a:solidFill>
                  <a:srgbClr val="0070C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Business Analyst</a:t>
            </a:r>
          </a:p>
          <a:p>
            <a:pPr marL="0" indent="0">
              <a:buNone/>
            </a:pPr>
            <a:br>
              <a:rPr lang="en-US" sz="2000" dirty="0">
                <a:latin typeface="Times New Roman" panose="02020603050405020304" pitchFamily="18" charset="0"/>
                <a:cs typeface="Times New Roman" panose="02020603050405020304" pitchFamily="18" charset="0"/>
              </a:rPr>
            </a:br>
            <a:r>
              <a:rPr lang="en-US" sz="2000" b="1" dirty="0">
                <a:solidFill>
                  <a:srgbClr val="0070C0"/>
                </a:solidFill>
                <a:latin typeface="Times New Roman" panose="02020603050405020304" pitchFamily="18" charset="0"/>
                <a:cs typeface="Times New Roman" panose="02020603050405020304" pitchFamily="18" charset="0"/>
              </a:rPr>
              <a:t>Tools Used:</a:t>
            </a:r>
            <a:r>
              <a:rPr lang="en-US" sz="2000" dirty="0">
                <a:latin typeface="Times New Roman" panose="02020603050405020304" pitchFamily="18" charset="0"/>
                <a:cs typeface="Times New Roman" panose="02020603050405020304" pitchFamily="18" charset="0"/>
              </a:rPr>
              <a:t> Power BI, Excel</a:t>
            </a:r>
          </a:p>
          <a:p>
            <a:pPr marL="0" indent="0">
              <a:buNone/>
            </a:pPr>
            <a:br>
              <a:rPr lang="en-US" sz="2000" dirty="0">
                <a:latin typeface="Times New Roman" panose="02020603050405020304" pitchFamily="18" charset="0"/>
                <a:cs typeface="Times New Roman" panose="02020603050405020304" pitchFamily="18" charset="0"/>
              </a:rPr>
            </a:br>
            <a:r>
              <a:rPr lang="en-US" sz="2000" b="1" dirty="0">
                <a:solidFill>
                  <a:srgbClr val="0070C0"/>
                </a:solidFill>
                <a:latin typeface="Times New Roman" panose="02020603050405020304" pitchFamily="18" charset="0"/>
                <a:cs typeface="Times New Roman" panose="02020603050405020304" pitchFamily="18" charset="0"/>
              </a:rPr>
              <a:t>Project Level:</a:t>
            </a:r>
            <a:r>
              <a:rPr lang="en-US" sz="2000" dirty="0">
                <a:latin typeface="Times New Roman" panose="02020603050405020304" pitchFamily="18" charset="0"/>
                <a:cs typeface="Times New Roman" panose="02020603050405020304" pitchFamily="18" charset="0"/>
              </a:rPr>
              <a:t> Intermediate</a:t>
            </a:r>
          </a:p>
          <a:p>
            <a:pPr marL="0" indent="0">
              <a:buNone/>
            </a:pPr>
            <a:br>
              <a:rPr lang="en-US" sz="2000" dirty="0">
                <a:latin typeface="Times New Roman" panose="02020603050405020304" pitchFamily="18" charset="0"/>
                <a:cs typeface="Times New Roman" panose="02020603050405020304" pitchFamily="18" charset="0"/>
              </a:rPr>
            </a:br>
            <a:r>
              <a:rPr lang="en-US" sz="2000" b="1" dirty="0">
                <a:solidFill>
                  <a:srgbClr val="0070C0"/>
                </a:solidFill>
                <a:latin typeface="Times New Roman" panose="02020603050405020304" pitchFamily="18" charset="0"/>
                <a:cs typeface="Times New Roman" panose="02020603050405020304" pitchFamily="18" charset="0"/>
              </a:rPr>
              <a:t>Dataset:</a:t>
            </a:r>
            <a:r>
              <a:rPr lang="en-US" sz="2000" dirty="0">
                <a:latin typeface="Times New Roman" panose="02020603050405020304" pitchFamily="18" charset="0"/>
                <a:cs typeface="Times New Roman" panose="02020603050405020304" pitchFamily="18" charset="0"/>
              </a:rPr>
              <a:t> Fashion &amp; Beauty Supply Chain Dataset.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Description:</a:t>
            </a:r>
            <a:endParaRPr lang="en-US" sz="20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Analysis of end-to-end supply chain operations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Covers inventory, logistics, suppliers, and revenue</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Focuses on efficiency, cost control, and performance</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Supports data-driven operational decisions</a:t>
            </a: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739682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73A76-8786-35FD-18E4-2A3972D738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ADD2B0-DF3B-BBA4-96EC-77B79A9CF178}"/>
              </a:ext>
            </a:extLst>
          </p:cNvPr>
          <p:cNvSpPr>
            <a:spLocks noGrp="1"/>
          </p:cNvSpPr>
          <p:nvPr>
            <p:ph type="title"/>
          </p:nvPr>
        </p:nvSpPr>
        <p:spPr>
          <a:xfrm>
            <a:off x="703382" y="422032"/>
            <a:ext cx="10515600" cy="751499"/>
          </a:xfrm>
        </p:spPr>
        <p:txBody>
          <a:bodyPr>
            <a:normAutofit/>
          </a:bodyPr>
          <a:lstStyle/>
          <a:p>
            <a:pPr algn="ctr"/>
            <a:r>
              <a:rPr lang="en-IN" sz="3600"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8983EAA1-2D37-3367-4913-097B1B53211F}"/>
              </a:ext>
            </a:extLst>
          </p:cNvPr>
          <p:cNvSpPr>
            <a:spLocks noGrp="1"/>
          </p:cNvSpPr>
          <p:nvPr>
            <p:ph idx="1"/>
          </p:nvPr>
        </p:nvSpPr>
        <p:spPr>
          <a:xfrm>
            <a:off x="615459" y="1485899"/>
            <a:ext cx="10515599" cy="5029201"/>
          </a:xfrm>
        </p:spPr>
        <p:txBody>
          <a:bodyPr>
            <a:normAutofit/>
          </a:bodyPr>
          <a:lstStyle/>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Supply chain involves multiple interconnected processes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Lack of analytics impacts visibility and decision-making</a:t>
            </a: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Challenges Addressed:</a:t>
            </a:r>
            <a:endParaRPr lang="en-US" sz="20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Monitoring inventory levels and reorder points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Tracking logistics and delivery performance</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Evaluating supplier reliability and quality</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Managing inventory health and turnover</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Analyzing revenue and growth trends</a:t>
            </a: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654191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B6957-373C-E78A-1CDF-CA19C54ADB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AB5FA2-ADC7-3862-2C1D-4B635B517998}"/>
              </a:ext>
            </a:extLst>
          </p:cNvPr>
          <p:cNvSpPr>
            <a:spLocks noGrp="1"/>
          </p:cNvSpPr>
          <p:nvPr>
            <p:ph type="title"/>
          </p:nvPr>
        </p:nvSpPr>
        <p:spPr>
          <a:xfrm>
            <a:off x="703382" y="422032"/>
            <a:ext cx="10515600" cy="751499"/>
          </a:xfrm>
        </p:spPr>
        <p:txBody>
          <a:bodyPr>
            <a:normAutofit/>
          </a:bodyPr>
          <a:lstStyle/>
          <a:p>
            <a:pPr algn="ctr"/>
            <a:r>
              <a:rPr lang="en-IN" sz="3600" b="1" dirty="0">
                <a:latin typeface="Times New Roman" panose="02020603050405020304" pitchFamily="18" charset="0"/>
                <a:cs typeface="Times New Roman" panose="02020603050405020304" pitchFamily="18" charset="0"/>
              </a:rPr>
              <a:t>PROJECT OBJECTIVES</a:t>
            </a:r>
          </a:p>
        </p:txBody>
      </p:sp>
      <p:sp>
        <p:nvSpPr>
          <p:cNvPr id="4" name="Rectangle 1">
            <a:extLst>
              <a:ext uri="{FF2B5EF4-FFF2-40B4-BE49-F238E27FC236}">
                <a16:creationId xmlns:a16="http://schemas.microsoft.com/office/drawing/2014/main" id="{B3484E53-0F51-7AD9-694D-838E70A772CD}"/>
              </a:ext>
            </a:extLst>
          </p:cNvPr>
          <p:cNvSpPr>
            <a:spLocks noGrp="1" noChangeArrowheads="1"/>
          </p:cNvSpPr>
          <p:nvPr>
            <p:ph idx="1"/>
          </p:nvPr>
        </p:nvSpPr>
        <p:spPr bwMode="auto">
          <a:xfrm>
            <a:off x="703382" y="2261986"/>
            <a:ext cx="10515600" cy="2703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Analyze overall supply chain performance</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Track revenue, cost, profit, and margins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Monitor logistics efficiency and delivery SLA</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Evaluate supplier reliability and defect rates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Identify inventory risks and reorder requirements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Provide time-based revenue and growth insights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256739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548F6-65CC-60DC-ABE4-C099FB6C73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B74ED3-F70E-47C5-1CAC-0C8B6A25FDB7}"/>
              </a:ext>
            </a:extLst>
          </p:cNvPr>
          <p:cNvSpPr>
            <a:spLocks noGrp="1"/>
          </p:cNvSpPr>
          <p:nvPr>
            <p:ph type="title"/>
          </p:nvPr>
        </p:nvSpPr>
        <p:spPr>
          <a:xfrm>
            <a:off x="703382" y="422032"/>
            <a:ext cx="10515600" cy="751499"/>
          </a:xfrm>
        </p:spPr>
        <p:txBody>
          <a:bodyPr>
            <a:normAutofit/>
          </a:bodyPr>
          <a:lstStyle/>
          <a:p>
            <a:pPr algn="ctr"/>
            <a:r>
              <a:rPr lang="en-IN" sz="3600" b="1" dirty="0">
                <a:latin typeface="Times New Roman" panose="02020603050405020304" pitchFamily="18" charset="0"/>
                <a:cs typeface="Times New Roman" panose="02020603050405020304" pitchFamily="18" charset="0"/>
              </a:rPr>
              <a:t>DATA PREPARATION</a:t>
            </a:r>
          </a:p>
        </p:txBody>
      </p:sp>
      <p:sp>
        <p:nvSpPr>
          <p:cNvPr id="3" name="Content Placeholder 2">
            <a:extLst>
              <a:ext uri="{FF2B5EF4-FFF2-40B4-BE49-F238E27FC236}">
                <a16:creationId xmlns:a16="http://schemas.microsoft.com/office/drawing/2014/main" id="{545DB63E-D239-3554-C7AD-D88C858C7043}"/>
              </a:ext>
            </a:extLst>
          </p:cNvPr>
          <p:cNvSpPr>
            <a:spLocks noGrp="1"/>
          </p:cNvSpPr>
          <p:nvPr>
            <p:ph idx="1"/>
          </p:nvPr>
        </p:nvSpPr>
        <p:spPr>
          <a:xfrm>
            <a:off x="615459" y="1485899"/>
            <a:ext cx="10515599" cy="5029201"/>
          </a:xfrm>
        </p:spPr>
        <p:txBody>
          <a:bodyPr>
            <a:normAutofit fontScale="92500" lnSpcReduction="20000"/>
          </a:bodyPr>
          <a:lstStyle/>
          <a:p>
            <a:pPr marL="0" indent="0">
              <a:buNone/>
            </a:pPr>
            <a:r>
              <a:rPr lang="en-US" sz="2000" b="1" dirty="0">
                <a:solidFill>
                  <a:srgbClr val="0070C0"/>
                </a:solidFill>
                <a:latin typeface="Times New Roman" panose="02020603050405020304" pitchFamily="18" charset="0"/>
                <a:cs typeface="Times New Roman" panose="02020603050405020304" pitchFamily="18" charset="0"/>
              </a:rPr>
              <a:t>Steps Performed:</a:t>
            </a:r>
            <a:endParaRPr lang="en-US" sz="20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Data import into Power BI</a:t>
            </a:r>
          </a:p>
          <a:p>
            <a:pP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Data cleaning and validation</a:t>
            </a:r>
          </a:p>
          <a:p>
            <a:pP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 Field standardization</a:t>
            </a:r>
          </a:p>
          <a:p>
            <a:pP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Relationship creation</a:t>
            </a:r>
          </a:p>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Key Data Fields:</a:t>
            </a:r>
            <a:endParaRPr lang="en-US" sz="20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Product Type, Supplier Name</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Revenue, Cost, Orders, Shipments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Inventory Levels, Lead Times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Shipping Cost, Routes, SLA</a:t>
            </a: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Purpose:</a:t>
            </a:r>
            <a:endParaRPr lang="en-US" sz="20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Ensure accurate, consistent, and reliable analysis</a:t>
            </a: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777471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CCE0C-782C-6947-D212-A0410077B9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FE0A30-013D-E3D1-59AC-840F3B4260A1}"/>
              </a:ext>
            </a:extLst>
          </p:cNvPr>
          <p:cNvSpPr>
            <a:spLocks noGrp="1"/>
          </p:cNvSpPr>
          <p:nvPr>
            <p:ph type="title"/>
          </p:nvPr>
        </p:nvSpPr>
        <p:spPr>
          <a:xfrm>
            <a:off x="712174" y="184639"/>
            <a:ext cx="10515600" cy="751499"/>
          </a:xfrm>
        </p:spPr>
        <p:txBody>
          <a:bodyPr>
            <a:normAutofit/>
          </a:bodyPr>
          <a:lstStyle/>
          <a:p>
            <a:pPr algn="ctr"/>
            <a:r>
              <a:rPr lang="en-IN" sz="3600" b="1" dirty="0">
                <a:latin typeface="Times New Roman" panose="02020603050405020304" pitchFamily="18" charset="0"/>
                <a:cs typeface="Times New Roman" panose="02020603050405020304" pitchFamily="18" charset="0"/>
              </a:rPr>
              <a:t>KPIs &amp; CALCULATIONS</a:t>
            </a:r>
          </a:p>
        </p:txBody>
      </p:sp>
      <p:sp>
        <p:nvSpPr>
          <p:cNvPr id="3" name="Content Placeholder 2">
            <a:extLst>
              <a:ext uri="{FF2B5EF4-FFF2-40B4-BE49-F238E27FC236}">
                <a16:creationId xmlns:a16="http://schemas.microsoft.com/office/drawing/2014/main" id="{677A7470-3E4B-739B-CC45-0947F81E8218}"/>
              </a:ext>
            </a:extLst>
          </p:cNvPr>
          <p:cNvSpPr>
            <a:spLocks noGrp="1"/>
          </p:cNvSpPr>
          <p:nvPr>
            <p:ph idx="1"/>
          </p:nvPr>
        </p:nvSpPr>
        <p:spPr>
          <a:xfrm>
            <a:off x="254977" y="936139"/>
            <a:ext cx="11728938" cy="5737222"/>
          </a:xfrm>
        </p:spPr>
        <p:txBody>
          <a:bodyPr>
            <a:normAutofit fontScale="85000" lnSpcReduction="10000"/>
          </a:bodyPr>
          <a:lstStyle/>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Key KPIs Created</a:t>
            </a:r>
          </a:p>
          <a:p>
            <a:pPr>
              <a:buFont typeface="Wingdings" panose="05000000000000000000" pitchFamily="2" charset="2"/>
              <a:buChar char="v"/>
            </a:pPr>
            <a:r>
              <a:rPr lang="en-US" sz="2000" dirty="0">
                <a:solidFill>
                  <a:schemeClr val="accent2">
                    <a:lumMod val="75000"/>
                  </a:schemeClr>
                </a:solidFill>
                <a:latin typeface="Times New Roman" panose="02020603050405020304" pitchFamily="18" charset="0"/>
                <a:cs typeface="Times New Roman" panose="02020603050405020304" pitchFamily="18" charset="0"/>
              </a:rPr>
              <a:t>Total Revenue=</a:t>
            </a:r>
            <a:r>
              <a:rPr lang="en-US" sz="1900" dirty="0">
                <a:latin typeface="Times New Roman" panose="02020603050405020304" pitchFamily="18" charset="0"/>
                <a:cs typeface="Times New Roman" panose="02020603050405020304" pitchFamily="18" charset="0"/>
              </a:rPr>
              <a:t>SUM( FactProduct[RevenueGenerated] )</a:t>
            </a:r>
          </a:p>
          <a:p>
            <a:pPr>
              <a:buFont typeface="Wingdings" panose="05000000000000000000" pitchFamily="2" charset="2"/>
              <a:buChar char="v"/>
            </a:pPr>
            <a:r>
              <a:rPr lang="en-US" sz="2000" dirty="0">
                <a:solidFill>
                  <a:schemeClr val="accent2">
                    <a:lumMod val="75000"/>
                  </a:schemeClr>
                </a:solidFill>
                <a:latin typeface="Times New Roman" panose="02020603050405020304" pitchFamily="18" charset="0"/>
                <a:cs typeface="Times New Roman" panose="02020603050405020304" pitchFamily="18" charset="0"/>
              </a:rPr>
              <a:t>Total Cost=</a:t>
            </a:r>
            <a:r>
              <a:rPr lang="en-US" sz="1900" dirty="0">
                <a:latin typeface="Times New Roman" panose="02020603050405020304" pitchFamily="18" charset="0"/>
                <a:cs typeface="Times New Roman" panose="02020603050405020304" pitchFamily="18" charset="0"/>
              </a:rPr>
              <a:t>SUM( FactProduct[Costs] )SUM( FactManufacturing[ManufacturingCosts] )SUM( FactShipment[ShippingCosts] )</a:t>
            </a:r>
          </a:p>
          <a:p>
            <a:pPr>
              <a:buFont typeface="Wingdings" panose="05000000000000000000" pitchFamily="2" charset="2"/>
              <a:buChar char="v"/>
            </a:pPr>
            <a:r>
              <a:rPr lang="en-US" sz="2000" dirty="0">
                <a:solidFill>
                  <a:schemeClr val="accent2">
                    <a:lumMod val="75000"/>
                  </a:schemeClr>
                </a:solidFill>
                <a:latin typeface="Times New Roman" panose="02020603050405020304" pitchFamily="18" charset="0"/>
                <a:cs typeface="Times New Roman" panose="02020603050405020304" pitchFamily="18" charset="0"/>
              </a:rPr>
              <a:t>Gross Profit = </a:t>
            </a:r>
            <a:r>
              <a:rPr lang="en-US" sz="1900" dirty="0">
                <a:latin typeface="Times New Roman" panose="02020603050405020304" pitchFamily="18" charset="0"/>
                <a:cs typeface="Times New Roman" panose="02020603050405020304" pitchFamily="18" charset="0"/>
              </a:rPr>
              <a:t>[Total Revenue] - [Total Cost]</a:t>
            </a:r>
          </a:p>
          <a:p>
            <a:pPr>
              <a:buFont typeface="Wingdings" panose="05000000000000000000" pitchFamily="2" charset="2"/>
              <a:buChar char="v"/>
            </a:pPr>
            <a:r>
              <a:rPr lang="en-US" sz="2000" dirty="0">
                <a:solidFill>
                  <a:schemeClr val="accent2">
                    <a:lumMod val="75000"/>
                  </a:schemeClr>
                </a:solidFill>
                <a:latin typeface="Times New Roman" panose="02020603050405020304" pitchFamily="18" charset="0"/>
                <a:cs typeface="Times New Roman" panose="02020603050405020304" pitchFamily="18" charset="0"/>
              </a:rPr>
              <a:t>Profit Margin % =</a:t>
            </a:r>
            <a:r>
              <a:rPr lang="en-US" sz="2000"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DIVIDE ( [Gross Profit], [Total Revenue] )</a:t>
            </a:r>
          </a:p>
          <a:p>
            <a:pPr>
              <a:buFont typeface="Wingdings" panose="05000000000000000000" pitchFamily="2" charset="2"/>
              <a:buChar char="v"/>
            </a:pPr>
            <a:r>
              <a:rPr lang="en-US" sz="2000" dirty="0">
                <a:solidFill>
                  <a:schemeClr val="accent2">
                    <a:lumMod val="75000"/>
                  </a:schemeClr>
                </a:solidFill>
                <a:latin typeface="Times New Roman" panose="02020603050405020304" pitchFamily="18" charset="0"/>
                <a:cs typeface="Times New Roman" panose="02020603050405020304" pitchFamily="18" charset="0"/>
              </a:rPr>
              <a:t>Total Orders =</a:t>
            </a:r>
            <a:r>
              <a:rPr lang="en-US" sz="1900" dirty="0">
                <a:latin typeface="Times New Roman" panose="02020603050405020304" pitchFamily="18" charset="0"/>
                <a:cs typeface="Times New Roman" panose="02020603050405020304" pitchFamily="18" charset="0"/>
              </a:rPr>
              <a:t> COUNTROWS( FactSalesOrder )</a:t>
            </a:r>
          </a:p>
          <a:p>
            <a:pPr>
              <a:spcBef>
                <a:spcPts val="600"/>
              </a:spcBef>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solidFill>
                  <a:schemeClr val="accent2">
                    <a:lumMod val="75000"/>
                  </a:schemeClr>
                </a:solidFill>
                <a:latin typeface="Times New Roman" panose="02020603050405020304" pitchFamily="18" charset="0"/>
                <a:cs typeface="Times New Roman" panose="02020603050405020304" pitchFamily="18" charset="0"/>
              </a:rPr>
              <a:t>Stock Availability % =</a:t>
            </a:r>
            <a:r>
              <a:rPr lang="en-US" sz="1900" dirty="0">
                <a:solidFill>
                  <a:schemeClr val="accent2">
                    <a:lumMod val="75000"/>
                  </a:schemeClr>
                </a:solidFill>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DIVIDE (SUM ( FactProduct[StockLevels] ),SUM ( FactProduct[StockLevels] ) + 					        SUMFactProduct[NumberOfProductsSold] ))</a:t>
            </a:r>
          </a:p>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solidFill>
                  <a:schemeClr val="accent2">
                    <a:lumMod val="75000"/>
                  </a:schemeClr>
                </a:solidFill>
                <a:latin typeface="Times New Roman" panose="02020603050405020304" pitchFamily="18" charset="0"/>
                <a:cs typeface="Times New Roman" panose="02020603050405020304" pitchFamily="18" charset="0"/>
              </a:rPr>
              <a:t>Inventory Value =</a:t>
            </a:r>
            <a:r>
              <a:rPr lang="en-US" sz="2000"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SUMX(FactProduct,COALESCE( FactProduct[StockLevels], 0 ) * COALESCE( FactProduct[Costs], 0 ))</a:t>
            </a:r>
          </a:p>
          <a:p>
            <a:pPr marL="0" indent="0">
              <a:buNone/>
            </a:pPr>
            <a:endParaRPr lang="en-US" sz="2000" dirty="0">
              <a:solidFill>
                <a:schemeClr val="accent2">
                  <a:lumMod val="75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solidFill>
                  <a:schemeClr val="accent2">
                    <a:lumMod val="75000"/>
                  </a:schemeClr>
                </a:solidFill>
                <a:latin typeface="Times New Roman" panose="02020603050405020304" pitchFamily="18" charset="0"/>
                <a:cs typeface="Times New Roman" panose="02020603050405020304" pitchFamily="18" charset="0"/>
              </a:rPr>
              <a:t>Days of Inventory = </a:t>
            </a:r>
            <a:r>
              <a:rPr lang="en-US" sz="1900" dirty="0">
                <a:latin typeface="Times New Roman" panose="02020603050405020304" pitchFamily="18" charset="0"/>
                <a:cs typeface="Times New Roman" panose="02020603050405020304" pitchFamily="18" charset="0"/>
              </a:rPr>
              <a:t>DIVIDE ([Total Stock Levels],[Avg Daily Demand])</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Purpose:</a:t>
            </a:r>
            <a:endParaRPr lang="en-US" sz="20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Measure financial performance and operational efficiency</a:t>
            </a: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568274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20620-DCAA-3AFB-070F-A48CA931FD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40BEDA-1B4D-5CEF-61B8-E40DBC2E795B}"/>
              </a:ext>
            </a:extLst>
          </p:cNvPr>
          <p:cNvSpPr>
            <a:spLocks noGrp="1"/>
          </p:cNvSpPr>
          <p:nvPr>
            <p:ph type="title"/>
          </p:nvPr>
        </p:nvSpPr>
        <p:spPr>
          <a:xfrm>
            <a:off x="703382" y="422032"/>
            <a:ext cx="10515600" cy="751499"/>
          </a:xfrm>
        </p:spPr>
        <p:txBody>
          <a:bodyPr>
            <a:normAutofit/>
          </a:bodyPr>
          <a:lstStyle/>
          <a:p>
            <a:pPr algn="ctr"/>
            <a:r>
              <a:rPr lang="en-IN" sz="3600" b="1" dirty="0">
                <a:latin typeface="Times New Roman" panose="02020603050405020304" pitchFamily="18" charset="0"/>
                <a:cs typeface="Times New Roman" panose="02020603050405020304" pitchFamily="18" charset="0"/>
              </a:rPr>
              <a:t>VISUALIZATION &amp; INTERACTIVITY</a:t>
            </a:r>
          </a:p>
        </p:txBody>
      </p:sp>
      <p:sp>
        <p:nvSpPr>
          <p:cNvPr id="3" name="Content Placeholder 2">
            <a:extLst>
              <a:ext uri="{FF2B5EF4-FFF2-40B4-BE49-F238E27FC236}">
                <a16:creationId xmlns:a16="http://schemas.microsoft.com/office/drawing/2014/main" id="{077932E4-ADDC-3CF9-3097-C9AD05C67686}"/>
              </a:ext>
            </a:extLst>
          </p:cNvPr>
          <p:cNvSpPr>
            <a:spLocks noGrp="1"/>
          </p:cNvSpPr>
          <p:nvPr>
            <p:ph idx="1"/>
          </p:nvPr>
        </p:nvSpPr>
        <p:spPr>
          <a:xfrm>
            <a:off x="615459" y="1485899"/>
            <a:ext cx="10515599" cy="5029201"/>
          </a:xfrm>
        </p:spPr>
        <p:txBody>
          <a:bodyPr>
            <a:normAutofit/>
          </a:bodyPr>
          <a:lstStyle/>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Visualization Techniques Used</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KPI Cards for summary metrics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Line Charts for trend analysis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Bar Charts for comparison</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Tables for detailed insights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Gauge chart for stock availability</a:t>
            </a: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Interactivity:</a:t>
            </a:r>
            <a:endParaRPr lang="en-US" sz="20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Slicers: Year, Product Type, Supplier, Month, Shipping Carrier</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Clear slicer button</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Cross-filtering across visuals</a:t>
            </a: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197865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2223" y="149469"/>
            <a:ext cx="11658600" cy="6523891"/>
          </a:xfrm>
        </p:spPr>
        <p:txBody>
          <a:bodyPr>
            <a:normAutofit/>
          </a:bodyPr>
          <a:lstStyle/>
          <a:p>
            <a:pPr marL="0" indent="0">
              <a:buNone/>
            </a:pPr>
            <a:r>
              <a:rPr lang="en-US" sz="1400" b="1" dirty="0">
                <a:solidFill>
                  <a:srgbClr val="0070C0"/>
                </a:solidFill>
                <a:latin typeface="Times New Roman" panose="02020603050405020304" pitchFamily="18" charset="0"/>
                <a:cs typeface="Times New Roman" panose="02020603050405020304" pitchFamily="18" charset="0"/>
              </a:rPr>
              <a:t>Highlights:</a:t>
            </a:r>
            <a:endParaRPr lang="en-US" sz="14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Total Revenue: 577.60K</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Gross Profit: 519.40K</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Margin: 89.92%</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Total Orders &amp; Shipments: 100</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Stock Availability: 9.39%</a:t>
            </a:r>
          </a:p>
          <a:p>
            <a:pPr marL="0" indent="0">
              <a:buNone/>
            </a:pPr>
            <a:r>
              <a:rPr lang="en-US" sz="1400" b="1" dirty="0">
                <a:solidFill>
                  <a:srgbClr val="0070C0"/>
                </a:solidFill>
                <a:latin typeface="Times New Roman" panose="02020603050405020304" pitchFamily="18" charset="0"/>
                <a:cs typeface="Times New Roman" panose="02020603050405020304" pitchFamily="18" charset="0"/>
              </a:rPr>
              <a:t>Business Insight:</a:t>
            </a:r>
            <a:endParaRPr lang="en-US" sz="14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Provides a high-level snapshot of supply chain health and profitability</a:t>
            </a:r>
          </a:p>
          <a:p>
            <a:pPr>
              <a:buFont typeface="Wingdings" panose="05000000000000000000" pitchFamily="2" charset="2"/>
              <a:buChar char="v"/>
            </a:pPr>
            <a:endParaRPr lang="en-US" sz="1400" dirty="0">
              <a:latin typeface="Times New Roman" panose="02020603050405020304" pitchFamily="18" charset="0"/>
              <a:cs typeface="Times New Roman" panose="02020603050405020304" pitchFamily="18" charset="0"/>
            </a:endParaRPr>
          </a:p>
        </p:txBody>
      </p:sp>
      <p:pic>
        <p:nvPicPr>
          <p:cNvPr id="4" name="Picture" title="This slide contains the following visuals: shape ,TOTAL REVENUE ,TOTAL COST ,GROSS PROFIT ,MARGIN % ,TOTAL ORDERS ,TOTAL SHIPMENTS ,REVENUE BY PRODUCT TYPE ,STOCK AVAILABILITY ,slicer ,slicer ,slicer ,slicer ,slicer ,REVENUE TREND ,actionButton. Please refer to the notes on this slide for details">
            <a:hlinkClick r:id="rId2"/>
          </p:cNvPr>
          <p:cNvPicPr>
            <a:picLocks noChangeAspect="1"/>
          </p:cNvPicPr>
          <p:nvPr/>
        </p:nvPicPr>
        <p:blipFill>
          <a:blip r:embed="rId3"/>
          <a:stretch>
            <a:fillRect/>
          </a:stretch>
        </p:blipFill>
        <p:spPr>
          <a:xfrm>
            <a:off x="1011112" y="2699238"/>
            <a:ext cx="10207870" cy="4158762"/>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2223" y="184641"/>
            <a:ext cx="11658600" cy="6488720"/>
          </a:xfrm>
        </p:spPr>
        <p:txBody>
          <a:bodyPr>
            <a:normAutofit/>
          </a:bodyPr>
          <a:lstStyle/>
          <a:p>
            <a:pPr marL="0" indent="0">
              <a:buNone/>
            </a:pPr>
            <a:r>
              <a:rPr lang="en-US" sz="1400" b="1" dirty="0">
                <a:solidFill>
                  <a:srgbClr val="0070C0"/>
                </a:solidFill>
                <a:latin typeface="Times New Roman" panose="02020603050405020304" pitchFamily="18" charset="0"/>
                <a:cs typeface="Times New Roman" panose="02020603050405020304" pitchFamily="18" charset="0"/>
              </a:rPr>
              <a:t>Insights:</a:t>
            </a:r>
            <a:endParaRPr lang="en-US" sz="14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Revenue performance by product type</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Product ranking based on revenue</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Units sold comparison across products</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Cosmetics, Haircare, and Skincare show balanced revenue</a:t>
            </a:r>
          </a:p>
          <a:p>
            <a:pPr marL="0" indent="0">
              <a:buNone/>
            </a:pPr>
            <a:r>
              <a:rPr lang="en-US" sz="1400" b="1" dirty="0">
                <a:solidFill>
                  <a:srgbClr val="0070C0"/>
                </a:solidFill>
                <a:latin typeface="Times New Roman" panose="02020603050405020304" pitchFamily="18" charset="0"/>
                <a:cs typeface="Times New Roman" panose="02020603050405020304" pitchFamily="18" charset="0"/>
              </a:rPr>
              <a:t>Business Insight:</a:t>
            </a:r>
            <a:endParaRPr lang="en-US" sz="14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Helps identify top-performing and underperforming product categories</a:t>
            </a:r>
          </a:p>
          <a:p>
            <a:pPr>
              <a:buFont typeface="Wingdings" panose="05000000000000000000" pitchFamily="2" charset="2"/>
              <a:buChar char="v"/>
            </a:pPr>
            <a:endParaRPr lang="en-US" sz="1400" dirty="0">
              <a:latin typeface="Times New Roman" panose="02020603050405020304" pitchFamily="18" charset="0"/>
              <a:cs typeface="Times New Roman" panose="02020603050405020304" pitchFamily="18" charset="0"/>
            </a:endParaRPr>
          </a:p>
        </p:txBody>
      </p:sp>
      <p:pic>
        <p:nvPicPr>
          <p:cNvPr id="4" name="Picture" title="This slide contains the following visuals: shape ,PRODUCT METRICS ,TOP 5 PRODUCT BY REVENUE ,slicer ,slicer ,BOTTOM 5 PRODUCT BY REVENUE. Please refer to the notes on this slide for details">
            <a:hlinkClick r:id="rId2"/>
          </p:cNvPr>
          <p:cNvPicPr>
            <a:picLocks noChangeAspect="1"/>
          </p:cNvPicPr>
          <p:nvPr/>
        </p:nvPicPr>
        <p:blipFill>
          <a:blip r:embed="rId3"/>
          <a:stretch>
            <a:fillRect/>
          </a:stretch>
        </p:blipFill>
        <p:spPr>
          <a:xfrm>
            <a:off x="1002323" y="2435469"/>
            <a:ext cx="10295792" cy="4237891"/>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2223" y="184641"/>
            <a:ext cx="11658600" cy="6488720"/>
          </a:xfrm>
        </p:spPr>
        <p:txBody>
          <a:bodyPr>
            <a:normAutofit/>
          </a:bodyPr>
          <a:lstStyle/>
          <a:p>
            <a:pPr marL="0" indent="0">
              <a:buNone/>
            </a:pPr>
            <a:r>
              <a:rPr lang="en-US" sz="1400" b="1" dirty="0">
                <a:solidFill>
                  <a:srgbClr val="0070C0"/>
                </a:solidFill>
                <a:latin typeface="Times New Roman" panose="02020603050405020304" pitchFamily="18" charset="0"/>
                <a:cs typeface="Times New Roman" panose="02020603050405020304" pitchFamily="18" charset="0"/>
              </a:rPr>
              <a:t>Insights:</a:t>
            </a:r>
            <a:endParaRPr lang="en-US" sz="14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Average shipment time: 5.75 days</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Average shipping cost: 5.55</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Delivery SLA achieved: 83%</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Carrier and route efficiency comparison</a:t>
            </a:r>
          </a:p>
          <a:p>
            <a:pPr marL="0" indent="0">
              <a:buNone/>
            </a:pPr>
            <a:r>
              <a:rPr lang="en-US" sz="1400" b="1" dirty="0">
                <a:solidFill>
                  <a:srgbClr val="0070C0"/>
                </a:solidFill>
                <a:latin typeface="Times New Roman" panose="02020603050405020304" pitchFamily="18" charset="0"/>
                <a:cs typeface="Times New Roman" panose="02020603050405020304" pitchFamily="18" charset="0"/>
              </a:rPr>
              <a:t>Business Insight:</a:t>
            </a:r>
            <a:endParaRPr lang="en-US" sz="14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Enables optimization of delivery routes and carrier selection</a:t>
            </a:r>
          </a:p>
          <a:p>
            <a:pPr>
              <a:buFont typeface="Wingdings" panose="05000000000000000000" pitchFamily="2" charset="2"/>
              <a:buChar char="v"/>
            </a:pPr>
            <a:endParaRPr lang="en-US" sz="1400" dirty="0">
              <a:latin typeface="Times New Roman" panose="02020603050405020304" pitchFamily="18" charset="0"/>
              <a:cs typeface="Times New Roman" panose="02020603050405020304" pitchFamily="18" charset="0"/>
            </a:endParaRPr>
          </a:p>
        </p:txBody>
      </p:sp>
      <p:pic>
        <p:nvPicPr>
          <p:cNvPr id="4" name="Picture" title="This slide contains the following visuals: shape ,slicer ,slicer ,AVG SHIPMENT TIME ,AVG SHIPPING COST ,DELIVERY SLA % ,CARRIER PERFORMANCE ,ROUTE EFFICIENCY ,slicer. Please refer to the notes on this slide for details">
            <a:hlinkClick r:id="rId2"/>
          </p:cNvPr>
          <p:cNvPicPr>
            <a:picLocks noChangeAspect="1"/>
          </p:cNvPicPr>
          <p:nvPr/>
        </p:nvPicPr>
        <p:blipFill>
          <a:blip r:embed="rId3"/>
          <a:stretch>
            <a:fillRect/>
          </a:stretch>
        </p:blipFill>
        <p:spPr>
          <a:xfrm>
            <a:off x="703382" y="2409092"/>
            <a:ext cx="10603526" cy="4264268"/>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2223" y="123095"/>
            <a:ext cx="11658600" cy="6550266"/>
          </a:xfrm>
        </p:spPr>
        <p:txBody>
          <a:bodyPr>
            <a:normAutofit/>
          </a:bodyPr>
          <a:lstStyle/>
          <a:p>
            <a:pPr marL="0" indent="0">
              <a:buNone/>
            </a:pPr>
            <a:r>
              <a:rPr lang="en-US" sz="1400" b="1" dirty="0">
                <a:solidFill>
                  <a:srgbClr val="0070C0"/>
                </a:solidFill>
                <a:latin typeface="Times New Roman" panose="02020603050405020304" pitchFamily="18" charset="0"/>
                <a:cs typeface="Times New Roman" panose="02020603050405020304" pitchFamily="18" charset="0"/>
              </a:rPr>
              <a:t>Insights:</a:t>
            </a:r>
            <a:endParaRPr lang="en-US" sz="14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Average supplier lead time: 20.80 days</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Manufacturing lead time: 14.77 days</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Supplier defect rate: 2.36</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Supplier ranking based on reliability</a:t>
            </a:r>
          </a:p>
          <a:p>
            <a:pPr marL="0" indent="0">
              <a:buNone/>
            </a:pPr>
            <a:r>
              <a:rPr lang="en-US" sz="1400" b="1" dirty="0">
                <a:solidFill>
                  <a:srgbClr val="0070C0"/>
                </a:solidFill>
                <a:latin typeface="Times New Roman" panose="02020603050405020304" pitchFamily="18" charset="0"/>
                <a:cs typeface="Times New Roman" panose="02020603050405020304" pitchFamily="18" charset="0"/>
              </a:rPr>
              <a:t>Business Insight:</a:t>
            </a:r>
            <a:endParaRPr lang="en-US" sz="14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Supports supplier selection and risk mitigation decisions</a:t>
            </a:r>
          </a:p>
          <a:p>
            <a:pPr>
              <a:buFont typeface="Wingdings" panose="05000000000000000000" pitchFamily="2" charset="2"/>
              <a:buChar char="v"/>
            </a:pPr>
            <a:endParaRPr lang="en-US" sz="1400" dirty="0">
              <a:latin typeface="Times New Roman" panose="02020603050405020304" pitchFamily="18" charset="0"/>
              <a:cs typeface="Times New Roman" panose="02020603050405020304" pitchFamily="18" charset="0"/>
            </a:endParaRPr>
          </a:p>
        </p:txBody>
      </p:sp>
      <p:pic>
        <p:nvPicPr>
          <p:cNvPr id="4" name="Picture" title="This slide contains the following visuals: shape ,slicer ,slicer ,AVG SUPPLIER LEAD TIME ,AVG MANUFACTURING LEAD TIME ,SUPPLIER DEFECT RATE ,SUPPLIER RANKING  ,SUPPLIER RISK CATEGORY ,slicer ,slicer. Please refer to the notes on this slide for details">
            <a:hlinkClick r:id="rId2"/>
          </p:cNvPr>
          <p:cNvPicPr>
            <a:picLocks noChangeAspect="1"/>
          </p:cNvPicPr>
          <p:nvPr/>
        </p:nvPicPr>
        <p:blipFill>
          <a:blip r:embed="rId3"/>
          <a:stretch>
            <a:fillRect/>
          </a:stretch>
        </p:blipFill>
        <p:spPr>
          <a:xfrm>
            <a:off x="1036027" y="2382715"/>
            <a:ext cx="10253298" cy="4352191"/>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2223" y="184639"/>
            <a:ext cx="11658600" cy="6488722"/>
          </a:xfrm>
        </p:spPr>
        <p:txBody>
          <a:bodyPr>
            <a:normAutofit/>
          </a:bodyPr>
          <a:lstStyle/>
          <a:p>
            <a:pPr marL="0" indent="0">
              <a:buNone/>
            </a:pPr>
            <a:r>
              <a:rPr lang="en-US" sz="1400" b="1" dirty="0">
                <a:solidFill>
                  <a:srgbClr val="0070C0"/>
                </a:solidFill>
                <a:latin typeface="Times New Roman" panose="02020603050405020304" pitchFamily="18" charset="0"/>
                <a:cs typeface="Times New Roman" panose="02020603050405020304" pitchFamily="18" charset="0"/>
              </a:rPr>
              <a:t>Insights:</a:t>
            </a:r>
            <a:endParaRPr lang="en-US" sz="14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Total stock level: 5K units</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Days of inventory: 72.64</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Inventory value: 2.52M</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Reorder alerts identified for specific products</a:t>
            </a:r>
          </a:p>
          <a:p>
            <a:pPr marL="0" indent="0">
              <a:buNone/>
            </a:pPr>
            <a:r>
              <a:rPr lang="en-US" sz="1400" b="1" dirty="0">
                <a:solidFill>
                  <a:srgbClr val="0070C0"/>
                </a:solidFill>
                <a:latin typeface="Times New Roman" panose="02020603050405020304" pitchFamily="18" charset="0"/>
                <a:cs typeface="Times New Roman" panose="02020603050405020304" pitchFamily="18" charset="0"/>
              </a:rPr>
              <a:t>Business Insight:</a:t>
            </a:r>
            <a:endParaRPr lang="en-US" sz="14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Prevents stock-outs and over-stocking through proactive planning</a:t>
            </a:r>
          </a:p>
          <a:p>
            <a:pPr>
              <a:buFont typeface="Wingdings" panose="05000000000000000000" pitchFamily="2" charset="2"/>
              <a:buChar char="v"/>
            </a:pPr>
            <a:endParaRPr lang="en-US" sz="1400" dirty="0">
              <a:latin typeface="Times New Roman" panose="02020603050405020304" pitchFamily="18" charset="0"/>
              <a:cs typeface="Times New Roman" panose="02020603050405020304" pitchFamily="18" charset="0"/>
            </a:endParaRPr>
          </a:p>
        </p:txBody>
      </p:sp>
      <p:pic>
        <p:nvPicPr>
          <p:cNvPr id="4" name="Picture" title="This slide contains the following visuals: shape ,slicer ,slicer ,TOTAL STOCK LEVEL ,INVENTORY VALUE ,DAYS OF INVENTORY ,REORDER ALERT ,INVENTORY TURNOVER ,slicer ,slicer. Please refer to the notes on this slide for details">
            <a:hlinkClick r:id="rId2"/>
          </p:cNvPr>
          <p:cNvPicPr>
            <a:picLocks noChangeAspect="1"/>
          </p:cNvPicPr>
          <p:nvPr/>
        </p:nvPicPr>
        <p:blipFill>
          <a:blip r:embed="rId3"/>
          <a:stretch>
            <a:fillRect/>
          </a:stretch>
        </p:blipFill>
        <p:spPr>
          <a:xfrm>
            <a:off x="633046" y="2461846"/>
            <a:ext cx="10665069" cy="4273063"/>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2223" y="184641"/>
            <a:ext cx="11658600" cy="6488720"/>
          </a:xfrm>
        </p:spPr>
        <p:txBody>
          <a:bodyPr>
            <a:normAutofit/>
          </a:bodyPr>
          <a:lstStyle/>
          <a:p>
            <a:pPr marL="0" indent="0">
              <a:buNone/>
            </a:pPr>
            <a:r>
              <a:rPr lang="en-US" sz="1400" b="1" dirty="0">
                <a:solidFill>
                  <a:srgbClr val="0070C0"/>
                </a:solidFill>
                <a:latin typeface="Times New Roman" panose="02020603050405020304" pitchFamily="18" charset="0"/>
                <a:cs typeface="Times New Roman" panose="02020603050405020304" pitchFamily="18" charset="0"/>
              </a:rPr>
              <a:t>Insights:</a:t>
            </a:r>
            <a:endParaRPr lang="en-US" sz="14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Revenue YTD: 577.60K</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Rolling 3-month revenue trends</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Stable revenue pattern with minor fluctuations</a:t>
            </a:r>
          </a:p>
          <a:p>
            <a:pPr marL="0" indent="0">
              <a:buNone/>
            </a:pPr>
            <a:r>
              <a:rPr lang="en-US" sz="1400" b="1" dirty="0">
                <a:solidFill>
                  <a:srgbClr val="0070C0"/>
                </a:solidFill>
                <a:latin typeface="Times New Roman" panose="02020603050405020304" pitchFamily="18" charset="0"/>
                <a:cs typeface="Times New Roman" panose="02020603050405020304" pitchFamily="18" charset="0"/>
              </a:rPr>
              <a:t>Business Insight:</a:t>
            </a:r>
            <a:endParaRPr lang="en-US" sz="14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Helps track growth patterns and seasonality over time</a:t>
            </a:r>
          </a:p>
          <a:p>
            <a:pPr>
              <a:buFont typeface="Wingdings" panose="05000000000000000000" pitchFamily="2" charset="2"/>
              <a:buChar char="v"/>
            </a:pPr>
            <a:endParaRPr lang="en-US" sz="1400" dirty="0">
              <a:latin typeface="Times New Roman" panose="02020603050405020304" pitchFamily="18" charset="0"/>
              <a:cs typeface="Times New Roman" panose="02020603050405020304" pitchFamily="18" charset="0"/>
            </a:endParaRPr>
          </a:p>
        </p:txBody>
      </p:sp>
      <p:pic>
        <p:nvPicPr>
          <p:cNvPr id="4" name="Picture" title="This slide contains the following visuals: shape ,slicer ,slicer ,REVENUE YTD ,slicer ,REVENUE TREND ,slicer. Please refer to the notes on this slide for details">
            <a:hlinkClick r:id="rId2"/>
          </p:cNvPr>
          <p:cNvPicPr>
            <a:picLocks noChangeAspect="1"/>
          </p:cNvPicPr>
          <p:nvPr/>
        </p:nvPicPr>
        <p:blipFill>
          <a:blip r:embed="rId3"/>
          <a:stretch>
            <a:fillRect/>
          </a:stretch>
        </p:blipFill>
        <p:spPr>
          <a:xfrm>
            <a:off x="1534255" y="2136532"/>
            <a:ext cx="8853854" cy="4536828"/>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3839D-5172-D78A-CFFD-FC3E737844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B7BB96-B815-5350-47BF-3CC05C3ED661}"/>
              </a:ext>
            </a:extLst>
          </p:cNvPr>
          <p:cNvSpPr>
            <a:spLocks noGrp="1"/>
          </p:cNvSpPr>
          <p:nvPr>
            <p:ph type="title"/>
          </p:nvPr>
        </p:nvSpPr>
        <p:spPr>
          <a:xfrm>
            <a:off x="703381" y="417877"/>
            <a:ext cx="10515600" cy="751499"/>
          </a:xfrm>
        </p:spPr>
        <p:txBody>
          <a:bodyPr>
            <a:normAutofit/>
          </a:bodyPr>
          <a:lstStyle/>
          <a:p>
            <a:pPr algn="ctr"/>
            <a:r>
              <a:rPr lang="en-IN" sz="3600" b="1" dirty="0">
                <a:latin typeface="Times New Roman" panose="02020603050405020304" pitchFamily="18" charset="0"/>
                <a:cs typeface="Times New Roman" panose="02020603050405020304" pitchFamily="18" charset="0"/>
              </a:rPr>
              <a:t>KEY FINDINGS</a:t>
            </a:r>
          </a:p>
        </p:txBody>
      </p:sp>
      <p:sp>
        <p:nvSpPr>
          <p:cNvPr id="3" name="Content Placeholder 2">
            <a:extLst>
              <a:ext uri="{FF2B5EF4-FFF2-40B4-BE49-F238E27FC236}">
                <a16:creationId xmlns:a16="http://schemas.microsoft.com/office/drawing/2014/main" id="{5FF7FC99-2B69-B0F3-3CCB-21AD8E72BF69}"/>
              </a:ext>
            </a:extLst>
          </p:cNvPr>
          <p:cNvSpPr>
            <a:spLocks noGrp="1"/>
          </p:cNvSpPr>
          <p:nvPr>
            <p:ph idx="1"/>
          </p:nvPr>
        </p:nvSpPr>
        <p:spPr>
          <a:xfrm>
            <a:off x="879230" y="1565032"/>
            <a:ext cx="10339751" cy="4123592"/>
          </a:xfrm>
        </p:spPr>
        <p:txBody>
          <a:bodyPr>
            <a:normAutofit/>
          </a:bodyPr>
          <a:lstStyle/>
          <a:p>
            <a:pPr marL="0" indent="0">
              <a:buNone/>
            </a:pPr>
            <a:endParaRPr lang="en-US" sz="2000" b="1" dirty="0">
              <a:solidFill>
                <a:srgbClr val="0070C0"/>
              </a:solidFill>
            </a:endParaRPr>
          </a:p>
          <a:p>
            <a:pPr marL="0" indent="0">
              <a:buNone/>
            </a:pPr>
            <a:r>
              <a:rPr lang="en-US" sz="2000" b="1" dirty="0">
                <a:solidFill>
                  <a:srgbClr val="0070C0"/>
                </a:solidFill>
              </a:rPr>
              <a:t>Key Findings</a:t>
            </a:r>
          </a:p>
          <a:p>
            <a:pPr>
              <a:buFont typeface="Wingdings" panose="05000000000000000000" pitchFamily="2" charset="2"/>
              <a:buChar char="v"/>
            </a:pPr>
            <a:r>
              <a:rPr lang="en-US" sz="2000" dirty="0"/>
              <a:t>Supply chain shows strong profitability with high margins</a:t>
            </a:r>
          </a:p>
          <a:p>
            <a:pPr>
              <a:buFont typeface="Wingdings" panose="05000000000000000000" pitchFamily="2" charset="2"/>
              <a:buChar char="v"/>
            </a:pPr>
            <a:r>
              <a:rPr lang="en-US" sz="2000" dirty="0"/>
              <a:t>Logistics performance meets SLA in most cases</a:t>
            </a:r>
          </a:p>
          <a:p>
            <a:pPr>
              <a:buFont typeface="Wingdings" panose="05000000000000000000" pitchFamily="2" charset="2"/>
              <a:buChar char="v"/>
            </a:pPr>
            <a:r>
              <a:rPr lang="en-US" sz="2000" dirty="0"/>
              <a:t>Certain products require immediate reorder action</a:t>
            </a:r>
          </a:p>
          <a:p>
            <a:pPr>
              <a:buFont typeface="Wingdings" panose="05000000000000000000" pitchFamily="2" charset="2"/>
              <a:buChar char="v"/>
            </a:pPr>
            <a:r>
              <a:rPr lang="en-US" sz="2000" dirty="0"/>
              <a:t>Supplier defect rates remain within acceptable range</a:t>
            </a:r>
          </a:p>
          <a:p>
            <a:pPr>
              <a:buFont typeface="Wingdings" panose="05000000000000000000" pitchFamily="2" charset="2"/>
              <a:buChar char="v"/>
            </a:pPr>
            <a:r>
              <a:rPr lang="en-US" sz="2000" dirty="0"/>
              <a:t>Time-based analysis shows stable revenue growth</a:t>
            </a: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555990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B4D8E-1700-9A31-5982-77BE1FAD82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78DB8-428E-2C44-31E1-004B5EFA0CA5}"/>
              </a:ext>
            </a:extLst>
          </p:cNvPr>
          <p:cNvSpPr>
            <a:spLocks noGrp="1"/>
          </p:cNvSpPr>
          <p:nvPr>
            <p:ph type="title"/>
          </p:nvPr>
        </p:nvSpPr>
        <p:spPr>
          <a:xfrm>
            <a:off x="703381" y="417877"/>
            <a:ext cx="10515600" cy="751499"/>
          </a:xfrm>
        </p:spPr>
        <p:txBody>
          <a:bodyPr>
            <a:normAutofit/>
          </a:bodyPr>
          <a:lstStyle/>
          <a:p>
            <a:pPr algn="ctr"/>
            <a:r>
              <a:rPr lang="en-IN" sz="3600" b="1" dirty="0">
                <a:latin typeface="Times New Roman" panose="02020603050405020304" pitchFamily="18" charset="0"/>
                <a:cs typeface="Times New Roman" panose="02020603050405020304" pitchFamily="18" charset="0"/>
              </a:rPr>
              <a:t>CONCLUSION &amp; FUTURE SCOPE</a:t>
            </a:r>
          </a:p>
        </p:txBody>
      </p:sp>
      <p:sp>
        <p:nvSpPr>
          <p:cNvPr id="3" name="Content Placeholder 2">
            <a:extLst>
              <a:ext uri="{FF2B5EF4-FFF2-40B4-BE49-F238E27FC236}">
                <a16:creationId xmlns:a16="http://schemas.microsoft.com/office/drawing/2014/main" id="{026ACADD-A6B8-5E52-42F2-46DDDBB1E82B}"/>
              </a:ext>
            </a:extLst>
          </p:cNvPr>
          <p:cNvSpPr>
            <a:spLocks noGrp="1"/>
          </p:cNvSpPr>
          <p:nvPr>
            <p:ph idx="1"/>
          </p:nvPr>
        </p:nvSpPr>
        <p:spPr>
          <a:xfrm>
            <a:off x="879230" y="1565032"/>
            <a:ext cx="10339751" cy="4123592"/>
          </a:xfrm>
        </p:spPr>
        <p:txBody>
          <a:bodyPr>
            <a:normAutofit lnSpcReduction="10000"/>
          </a:bodyPr>
          <a:lstStyle/>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Conclusion</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dashboard provides a comprehensive view of supply chain operations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Enables data-driven decisions across inventory, logistics, and suppliers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Improves efficiency, cost control, and service levels</a:t>
            </a: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Future Enhancements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Integration with real-time supply chain data</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Advanced forecasting for demand and inventory</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Predictive supplier risk analysis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Automation of reorder alerts</a:t>
            </a:r>
          </a:p>
        </p:txBody>
      </p:sp>
    </p:spTree>
    <p:extLst>
      <p:ext uri="{BB962C8B-B14F-4D97-AF65-F5344CB8AC3E}">
        <p14:creationId xmlns:p14="http://schemas.microsoft.com/office/powerpoint/2010/main" val="123627738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703</Words>
  <Application>Microsoft Office PowerPoint</Application>
  <PresentationFormat>Widescreen</PresentationFormat>
  <Paragraphs>137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Times New Roman</vt:lpstr>
      <vt:lpstr>Wingdings</vt:lpstr>
      <vt:lpstr>Custom Design</vt:lpstr>
      <vt:lpstr>SUPPLY CHAIN MANAGEMENT DASHBOARD</vt:lpstr>
      <vt:lpstr>PROBLEM STATEMENT</vt:lpstr>
      <vt:lpstr>PROJECT OBJECTIVES</vt:lpstr>
      <vt:lpstr>DATA PREPARATION</vt:lpstr>
      <vt:lpstr>KPIs &amp; CALCULATIONS</vt:lpstr>
      <vt:lpstr>VISUALIZATION &amp; INTERACTIVITY</vt:lpstr>
      <vt:lpstr>PowerPoint Presentation</vt:lpstr>
      <vt:lpstr>PowerPoint Presentation</vt:lpstr>
      <vt:lpstr>PowerPoint Presentation</vt:lpstr>
      <vt:lpstr>PowerPoint Presentation</vt:lpstr>
      <vt:lpstr>PowerPoint Presentation</vt:lpstr>
      <vt:lpstr>PowerPoint Presentation</vt:lpstr>
      <vt:lpstr>KEY FINDINGS</vt:lpstr>
      <vt:lpstr>CONCLUSION &amp; FUTURE SCOPE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HARISH  V</cp:lastModifiedBy>
  <cp:revision>6</cp:revision>
  <dcterms:created xsi:type="dcterms:W3CDTF">2016-09-04T11:54:00Z</dcterms:created>
  <dcterms:modified xsi:type="dcterms:W3CDTF">2025-12-28T17:06:26Z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7164B187D1CC4918A2B694760FB379B9_13</vt:lpwstr>
  </property>
  <property fmtid="{D5CDD505-2E9C-101B-9397-08002B2CF9AE}" pid="3" name="KSOProductBuildVer">
    <vt:lpwstr>1033-12.2.0.23196</vt:lpwstr>
  </property>
</Properties>
</file>