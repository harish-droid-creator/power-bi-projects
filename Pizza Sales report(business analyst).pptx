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4"/>
  </p:notesMasterIdLst>
  <p:sldIdLst>
    <p:sldId id="269" r:id="rId2"/>
    <p:sldId id="270" r:id="rId3"/>
    <p:sldId id="271" r:id="rId4"/>
    <p:sldId id="272" r:id="rId5"/>
    <p:sldId id="273" r:id="rId6"/>
    <p:sldId id="274" r:id="rId7"/>
    <p:sldId id="313" r:id="rId8"/>
    <p:sldId id="314" r:id="rId9"/>
    <p:sldId id="315" r:id="rId10"/>
    <p:sldId id="316" r:id="rId11"/>
    <p:sldId id="279" r:id="rId12"/>
    <p:sldId id="28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85" autoAdjust="0"/>
    <p:restoredTop sz="86410" autoAdjust="0"/>
  </p:normalViewPr>
  <p:slideViewPr>
    <p:cSldViewPr snapToGrid="0" snapToObjects="1">
      <p:cViewPr varScale="1">
        <p:scale>
          <a:sx n="79" d="100"/>
          <a:sy n="79" d="100"/>
        </p:scale>
        <p:origin x="754" y="7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892CA7-52C4-4BF8-AB9A-85A0CD980818}" type="datetimeFigureOut">
              <a:rPr lang="en-IN" smtClean="0"/>
              <a:t>28-12-2025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EC154D-70BF-4677-B510-FD24039A7955}" type="slidenum">
              <a:rPr lang="en-IN" smtClean="0"/>
              <a:t>‹#›</a:t>
            </a:fld>
            <a:endParaRPr lang="en-IN"/>
          </a:p>
        </p:txBody>
      </p:sp>
    </p:spTree>
    <p:extLst>
      <p:ext uri="{BB962C8B-B14F-4D97-AF65-F5344CB8AC3E}">
        <p14:creationId xmlns:p14="http://schemas.microsoft.com/office/powerpoint/2010/main" val="2822441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12/28/2025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12/28/2025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12/28/2025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12/28/2025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app.powerbi.com/groups/me/reports/912aecd5-7d8e-4f58-9bcf-0938d2283938/?pbi_source=PowerPoint"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app.powerbi.com/groups/me/reports/912aecd5-7d8e-4f58-9bcf-0938d2283938/?pbi_source=PowerPoint"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app.powerbi.com/groups/me/reports/912aecd5-7d8e-4f58-9bcf-0938d2283938/?pbi_source=PowerPoint"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app.powerbi.com/groups/me/reports/912aecd5-7d8e-4f58-9bcf-0938d2283938/?pbi_source=PowerPoint"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E927C-592B-1CFF-B539-4E267EB15E32}"/>
              </a:ext>
            </a:extLst>
          </p:cNvPr>
          <p:cNvSpPr>
            <a:spLocks noGrp="1"/>
          </p:cNvSpPr>
          <p:nvPr>
            <p:ph type="title"/>
          </p:nvPr>
        </p:nvSpPr>
        <p:spPr>
          <a:xfrm>
            <a:off x="543658" y="237393"/>
            <a:ext cx="10810142" cy="1325563"/>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lIns="91440" tIns="45720" rIns="91440" bIns="45720" rtlCol="0" anchor="ctr" anchorCtr="0">
            <a:normAutofit/>
          </a:bodyPr>
          <a:lstStyle/>
          <a:p>
            <a:pPr algn="ctr"/>
            <a:r>
              <a:rPr lang="en-IN" sz="3600" b="1" dirty="0">
                <a:solidFill>
                  <a:schemeClr val="accent5">
                    <a:lumMod val="50000"/>
                  </a:schemeClr>
                </a:solidFill>
                <a:latin typeface="Times New Roman" panose="02020603050405020304" pitchFamily="18" charset="0"/>
                <a:ea typeface="+mj-ea"/>
                <a:cs typeface="Times New Roman" panose="02020603050405020304" pitchFamily="18" charset="0"/>
              </a:rPr>
              <a:t>PIZZA SALES PERFORMANCE DASHBOARD (2015)</a:t>
            </a:r>
          </a:p>
        </p:txBody>
      </p:sp>
      <p:sp>
        <p:nvSpPr>
          <p:cNvPr id="3" name="Content Placeholder 2">
            <a:extLst>
              <a:ext uri="{FF2B5EF4-FFF2-40B4-BE49-F238E27FC236}">
                <a16:creationId xmlns:a16="http://schemas.microsoft.com/office/drawing/2014/main" id="{576C6D17-E5D6-C054-2AA3-2FEE078C5424}"/>
              </a:ext>
            </a:extLst>
          </p:cNvPr>
          <p:cNvSpPr>
            <a:spLocks noGrp="1"/>
          </p:cNvSpPr>
          <p:nvPr>
            <p:ph idx="1"/>
          </p:nvPr>
        </p:nvSpPr>
        <p:spPr>
          <a:xfrm>
            <a:off x="543658" y="1479672"/>
            <a:ext cx="11104684" cy="5140935"/>
          </a:xfrm>
          <a:ln>
            <a:noFill/>
          </a:ln>
        </p:spPr>
        <p:style>
          <a:lnRef idx="2">
            <a:schemeClr val="dk1"/>
          </a:lnRef>
          <a:fillRef idx="1">
            <a:schemeClr val="lt1"/>
          </a:fillRef>
          <a:effectRef idx="0">
            <a:schemeClr val="dk1"/>
          </a:effectRef>
          <a:fontRef idx="minor">
            <a:schemeClr val="dk1"/>
          </a:fontRef>
        </p:style>
        <p:txBody>
          <a:bodyPr>
            <a:normAutofit/>
          </a:bodyPr>
          <a:lstStyle/>
          <a:p>
            <a:pPr marL="0" indent="0" algn="ctr">
              <a:buNone/>
            </a:pPr>
            <a:endParaRPr lang="en-IN" sz="2000" b="1" dirty="0">
              <a:solidFill>
                <a:srgbClr val="0070C0"/>
              </a:solidFill>
              <a:latin typeface="Times New Roman" panose="02020603050405020304" pitchFamily="18" charset="0"/>
              <a:cs typeface="Times New Roman" panose="02020603050405020304" pitchFamily="18" charset="0"/>
            </a:endParaRPr>
          </a:p>
          <a:p>
            <a:pPr marL="0" indent="0">
              <a:buNone/>
            </a:pPr>
            <a:r>
              <a:rPr lang="en-IN" sz="2000" b="1" dirty="0">
                <a:solidFill>
                  <a:srgbClr val="0070C0"/>
                </a:solidFill>
                <a:latin typeface="Times New Roman" panose="02020603050405020304" pitchFamily="18" charset="0"/>
                <a:cs typeface="Times New Roman" panose="02020603050405020304" pitchFamily="18" charset="0"/>
              </a:rPr>
              <a:t>Domain</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Business Analyst</a:t>
            </a:r>
          </a:p>
          <a:p>
            <a:pPr marL="0" indent="0">
              <a:buNone/>
            </a:pPr>
            <a:br>
              <a:rPr lang="en-IN" sz="2000" dirty="0">
                <a:latin typeface="Times New Roman" panose="02020603050405020304" pitchFamily="18" charset="0"/>
                <a:cs typeface="Times New Roman" panose="02020603050405020304" pitchFamily="18" charset="0"/>
              </a:rPr>
            </a:br>
            <a:r>
              <a:rPr lang="en-IN" sz="2000" b="1" dirty="0">
                <a:solidFill>
                  <a:srgbClr val="0070C0"/>
                </a:solidFill>
                <a:latin typeface="Times New Roman" panose="02020603050405020304" pitchFamily="18" charset="0"/>
                <a:cs typeface="Times New Roman" panose="02020603050405020304" pitchFamily="18" charset="0"/>
              </a:rPr>
              <a:t>Tool Used</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Power BI</a:t>
            </a:r>
          </a:p>
          <a:p>
            <a:pPr marL="0" indent="0">
              <a:buNone/>
            </a:pPr>
            <a:br>
              <a:rPr lang="en-IN" sz="2000" dirty="0">
                <a:latin typeface="Times New Roman" panose="02020603050405020304" pitchFamily="18" charset="0"/>
                <a:cs typeface="Times New Roman" panose="02020603050405020304" pitchFamily="18" charset="0"/>
              </a:rPr>
            </a:br>
            <a:r>
              <a:rPr lang="en-IN" sz="2000" b="1" dirty="0">
                <a:solidFill>
                  <a:srgbClr val="0070C0"/>
                </a:solidFill>
                <a:latin typeface="Times New Roman" panose="02020603050405020304" pitchFamily="18" charset="0"/>
                <a:cs typeface="Times New Roman" panose="02020603050405020304" pitchFamily="18" charset="0"/>
              </a:rPr>
              <a:t>Dataset</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Pizza Sales Transaction Dataset</a:t>
            </a:r>
          </a:p>
          <a:p>
            <a:pPr marL="0" indent="0">
              <a:buNone/>
            </a:pPr>
            <a:br>
              <a:rPr lang="en-IN" sz="2000" dirty="0">
                <a:latin typeface="Times New Roman" panose="02020603050405020304" pitchFamily="18" charset="0"/>
                <a:cs typeface="Times New Roman" panose="02020603050405020304" pitchFamily="18" charset="0"/>
              </a:rPr>
            </a:br>
            <a:r>
              <a:rPr lang="en-IN" sz="2000" b="1" dirty="0">
                <a:solidFill>
                  <a:srgbClr val="0070C0"/>
                </a:solidFill>
                <a:latin typeface="Times New Roman" panose="02020603050405020304" pitchFamily="18" charset="0"/>
                <a:cs typeface="Times New Roman" panose="02020603050405020304" pitchFamily="18" charset="0"/>
              </a:rPr>
              <a:t>Project Level</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Intermediate</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Description:</a:t>
            </a:r>
          </a:p>
          <a:p>
            <a:pPr marL="0" indent="0">
              <a:buNone/>
            </a:pP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This project analyzes pizza sales performance using interactive Power BI dashboards. It focuses on revenue, order patterns, product performance, and operational efficiency to support data-driven business decisions for a restaurant.</a:t>
            </a:r>
          </a:p>
          <a:p>
            <a:pPr marL="0"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52798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276EF-9BF0-831D-C3D8-6F46DB902D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5DE7AC-72E3-4535-075C-A4D9842B829C}"/>
              </a:ext>
            </a:extLst>
          </p:cNvPr>
          <p:cNvSpPr>
            <a:spLocks noGrp="1"/>
          </p:cNvSpPr>
          <p:nvPr>
            <p:ph type="title"/>
          </p:nvPr>
        </p:nvSpPr>
        <p:spPr>
          <a:xfrm>
            <a:off x="838200" y="237393"/>
            <a:ext cx="10515600" cy="1325563"/>
          </a:xfrm>
        </p:spPr>
        <p:txBody>
          <a:bodyPr>
            <a:normAutofit/>
          </a:bodyPr>
          <a:lstStyle/>
          <a:p>
            <a:pPr algn="ctr"/>
            <a:r>
              <a:rPr lang="en-IN" sz="3600" b="1"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75AA58D2-E808-654A-475C-E9F4F6DE23C0}"/>
              </a:ext>
            </a:extLst>
          </p:cNvPr>
          <p:cNvSpPr>
            <a:spLocks noGrp="1"/>
          </p:cNvSpPr>
          <p:nvPr>
            <p:ph idx="1"/>
          </p:nvPr>
        </p:nvSpPr>
        <p:spPr>
          <a:xfrm>
            <a:off x="838200" y="1479672"/>
            <a:ext cx="10515600" cy="5140935"/>
          </a:xfrm>
        </p:spPr>
        <p:txBody>
          <a:bodyPr>
            <a:normAutofit/>
          </a:bodyPr>
          <a:lstStyle/>
          <a:p>
            <a:pPr marL="0" indent="0">
              <a:buNone/>
            </a:pPr>
            <a:endParaRPr lang="en-US" sz="2000" b="1" dirty="0">
              <a:solidFill>
                <a:srgbClr val="0070C0"/>
              </a:solidFill>
              <a:latin typeface="Times New Roman" panose="02020603050405020304" pitchFamily="18" charset="0"/>
              <a:cs typeface="Times New Roman" panose="02020603050405020304" pitchFamily="18" charset="0"/>
            </a:endParaRPr>
          </a:p>
          <a:p>
            <a:pPr marL="0" indent="0">
              <a:buNone/>
            </a:pPr>
            <a:endParaRPr lang="en-US" sz="2000" b="1" dirty="0">
              <a:solidFill>
                <a:srgbClr val="0070C0"/>
              </a:solidFill>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Restaurants collect transactional sales data daily, but without proper analysis, it is difficult to identify sales patterns, peak hours, and best-selling products.</a:t>
            </a:r>
          </a:p>
          <a:p>
            <a:pPr>
              <a:buFont typeface="Wingdings" panose="05000000000000000000" pitchFamily="2" charset="2"/>
              <a:buChar char="v"/>
            </a:pPr>
            <a:endParaRPr lang="en-US" sz="2000" dirty="0">
              <a:solidFill>
                <a:srgbClr val="0070C0"/>
              </a:solidFill>
              <a:latin typeface="Times New Roman" panose="02020603050405020304" pitchFamily="18" charset="0"/>
              <a:cs typeface="Times New Roman" panose="02020603050405020304" pitchFamily="18" charset="0"/>
            </a:endParaRP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Challenges Addressed:</a:t>
            </a:r>
          </a:p>
          <a:p>
            <a:pPr marL="0" indent="0">
              <a:buNone/>
            </a:pPr>
            <a:endParaRPr lang="en-US" sz="20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Identifying peak business days and hours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Understanding best and worst-selling pizzas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Measuring average order value and order size</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Evaluating seating utilization efficiency</a:t>
            </a:r>
          </a:p>
        </p:txBody>
      </p:sp>
    </p:spTree>
    <p:extLst>
      <p:ext uri="{BB962C8B-B14F-4D97-AF65-F5344CB8AC3E}">
        <p14:creationId xmlns:p14="http://schemas.microsoft.com/office/powerpoint/2010/main" val="282849558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CAD06-E6D5-4BB7-CBA2-E3958FE159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7730C8-3C0F-654A-E874-DF214B41B87E}"/>
              </a:ext>
            </a:extLst>
          </p:cNvPr>
          <p:cNvSpPr>
            <a:spLocks noGrp="1"/>
          </p:cNvSpPr>
          <p:nvPr>
            <p:ph type="title"/>
          </p:nvPr>
        </p:nvSpPr>
        <p:spPr>
          <a:xfrm>
            <a:off x="838200" y="237393"/>
            <a:ext cx="10515600" cy="1325563"/>
          </a:xfrm>
        </p:spPr>
        <p:txBody>
          <a:bodyPr>
            <a:normAutofit/>
          </a:bodyPr>
          <a:lstStyle/>
          <a:p>
            <a:pPr algn="ctr"/>
            <a:r>
              <a:rPr lang="en-IN" sz="3600" b="1" dirty="0">
                <a:latin typeface="Times New Roman" panose="02020603050405020304" pitchFamily="18" charset="0"/>
                <a:cs typeface="Times New Roman" panose="02020603050405020304" pitchFamily="18" charset="0"/>
              </a:rPr>
              <a:t>PROJECT OBJECTIVES</a:t>
            </a:r>
          </a:p>
        </p:txBody>
      </p:sp>
      <p:sp>
        <p:nvSpPr>
          <p:cNvPr id="3" name="Content Placeholder 2">
            <a:extLst>
              <a:ext uri="{FF2B5EF4-FFF2-40B4-BE49-F238E27FC236}">
                <a16:creationId xmlns:a16="http://schemas.microsoft.com/office/drawing/2014/main" id="{3E0C7433-32F4-3DF2-9476-A0BF8ED5641B}"/>
              </a:ext>
            </a:extLst>
          </p:cNvPr>
          <p:cNvSpPr>
            <a:spLocks noGrp="1"/>
          </p:cNvSpPr>
          <p:nvPr>
            <p:ph idx="1"/>
          </p:nvPr>
        </p:nvSpPr>
        <p:spPr>
          <a:xfrm>
            <a:off x="838200" y="1479672"/>
            <a:ext cx="10515600" cy="5140935"/>
          </a:xfrm>
        </p:spPr>
        <p:txBody>
          <a:bodyPr>
            <a:normAutofit/>
          </a:bodyPr>
          <a:lstStyle/>
          <a:p>
            <a:pPr>
              <a:buFont typeface="Wingdings" panose="05000000000000000000" pitchFamily="2" charset="2"/>
              <a:buChar char="v"/>
            </a:pPr>
            <a:endParaRPr lang="en-US" sz="2000" b="1" dirty="0">
              <a:solidFill>
                <a:srgbClr val="0070C0"/>
              </a:solidFill>
              <a:latin typeface="Times New Roman" panose="02020603050405020304" pitchFamily="18" charset="0"/>
              <a:cs typeface="Times New Roman" panose="02020603050405020304" pitchFamily="18" charset="0"/>
            </a:endParaRPr>
          </a:p>
          <a:p>
            <a:pPr marL="0" indent="0">
              <a:buNone/>
            </a:pPr>
            <a:endParaRPr lang="en-US" sz="2000" b="1" dirty="0">
              <a:solidFill>
                <a:srgbClr val="0070C0"/>
              </a:solidFill>
              <a:latin typeface="Times New Roman" panose="02020603050405020304" pitchFamily="18" charset="0"/>
              <a:cs typeface="Times New Roman" panose="02020603050405020304" pitchFamily="18" charset="0"/>
            </a:endParaRPr>
          </a:p>
          <a:p>
            <a:pPr marL="0" indent="0">
              <a:buNone/>
            </a:pPr>
            <a:endParaRPr lang="en-US" sz="2000" b="1" dirty="0">
              <a:solidFill>
                <a:srgbClr val="0070C0"/>
              </a:solidFill>
              <a:latin typeface="Times New Roman" panose="02020603050405020304" pitchFamily="18" charset="0"/>
              <a:cs typeface="Times New Roman" panose="02020603050405020304" pitchFamily="18" charset="0"/>
            </a:endParaRPr>
          </a:p>
          <a:p>
            <a:pPr marL="0" indent="0">
              <a:buNone/>
            </a:pPr>
            <a:endParaRPr lang="en-US" sz="2000" b="1"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Analyze total revenue, orders, and pizzas sold</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Identify top and bottom-performing pizzas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Analyze sales by weekday, hour, size, and category</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Measure operational metrics such as seating utilization</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Provide interactive insights using Power BI dashboards</a:t>
            </a:r>
          </a:p>
        </p:txBody>
      </p:sp>
    </p:spTree>
    <p:extLst>
      <p:ext uri="{BB962C8B-B14F-4D97-AF65-F5344CB8AC3E}">
        <p14:creationId xmlns:p14="http://schemas.microsoft.com/office/powerpoint/2010/main" val="132803524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CB54A-4341-7109-A32F-C83C01FC61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2D7D43-4BFE-0271-BCC0-19F6E86AA9B1}"/>
              </a:ext>
            </a:extLst>
          </p:cNvPr>
          <p:cNvSpPr>
            <a:spLocks noGrp="1"/>
          </p:cNvSpPr>
          <p:nvPr>
            <p:ph type="title"/>
          </p:nvPr>
        </p:nvSpPr>
        <p:spPr>
          <a:xfrm>
            <a:off x="838200" y="237393"/>
            <a:ext cx="10515600" cy="1325563"/>
          </a:xfrm>
        </p:spPr>
        <p:txBody>
          <a:bodyPr>
            <a:normAutofit/>
          </a:bodyPr>
          <a:lstStyle/>
          <a:p>
            <a:pPr algn="ctr"/>
            <a:r>
              <a:rPr lang="en-IN" sz="3600" b="1" dirty="0">
                <a:latin typeface="Times New Roman" panose="02020603050405020304" pitchFamily="18" charset="0"/>
                <a:cs typeface="Times New Roman" panose="02020603050405020304" pitchFamily="18" charset="0"/>
              </a:rPr>
              <a:t>DATA PREPARATION (TECHNIQUES)</a:t>
            </a:r>
          </a:p>
        </p:txBody>
      </p:sp>
      <p:sp>
        <p:nvSpPr>
          <p:cNvPr id="3" name="Content Placeholder 2">
            <a:extLst>
              <a:ext uri="{FF2B5EF4-FFF2-40B4-BE49-F238E27FC236}">
                <a16:creationId xmlns:a16="http://schemas.microsoft.com/office/drawing/2014/main" id="{E7B76DBC-12B0-123A-34A6-C6D57560745C}"/>
              </a:ext>
            </a:extLst>
          </p:cNvPr>
          <p:cNvSpPr>
            <a:spLocks noGrp="1"/>
          </p:cNvSpPr>
          <p:nvPr>
            <p:ph idx="1"/>
          </p:nvPr>
        </p:nvSpPr>
        <p:spPr>
          <a:xfrm>
            <a:off x="838200" y="1479672"/>
            <a:ext cx="10515600" cy="5140935"/>
          </a:xfrm>
        </p:spPr>
        <p:txBody>
          <a:bodyPr>
            <a:normAutofit fontScale="92500" lnSpcReduction="20000"/>
          </a:bodyPr>
          <a:lstStyle/>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Steps Performed:</a:t>
            </a:r>
          </a:p>
          <a:p>
            <a:pPr marL="0" indent="0">
              <a:buNone/>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Imported pizza sales dataset into Power BI</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Cleaned and validated transactional data</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Created date and time attributes (Day, Month, Hour)</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Verified numeric and categorical fields</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Key Fields Used:</a:t>
            </a:r>
          </a:p>
          <a:p>
            <a:pPr marL="0" indent="0">
              <a:buNone/>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Order ID, Order Date, Order Time</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Pizza Name, Category, Size</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Quantity, Unit Price, Total Price</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Purpose</a:t>
            </a:r>
            <a:r>
              <a:rPr lang="en-US" sz="2000" b="1" dirty="0">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To ensure accurate, consistent, and reliable analysis.</a:t>
            </a:r>
          </a:p>
        </p:txBody>
      </p:sp>
    </p:spTree>
    <p:extLst>
      <p:ext uri="{BB962C8B-B14F-4D97-AF65-F5344CB8AC3E}">
        <p14:creationId xmlns:p14="http://schemas.microsoft.com/office/powerpoint/2010/main" val="327012440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C4570-3FEF-63A5-E9ED-5ED211B1B2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1848BD-8AD0-A077-4F6D-52CFC7B6ECD9}"/>
              </a:ext>
            </a:extLst>
          </p:cNvPr>
          <p:cNvSpPr>
            <a:spLocks noGrp="1"/>
          </p:cNvSpPr>
          <p:nvPr>
            <p:ph type="title"/>
          </p:nvPr>
        </p:nvSpPr>
        <p:spPr>
          <a:xfrm>
            <a:off x="838200" y="237393"/>
            <a:ext cx="10515600" cy="1325563"/>
          </a:xfrm>
        </p:spPr>
        <p:txBody>
          <a:bodyPr>
            <a:normAutofit/>
          </a:bodyPr>
          <a:lstStyle/>
          <a:p>
            <a:pPr algn="ctr"/>
            <a:r>
              <a:rPr lang="en-IN" sz="3600" b="1" dirty="0">
                <a:latin typeface="Times New Roman" panose="02020603050405020304" pitchFamily="18" charset="0"/>
                <a:cs typeface="Times New Roman" panose="02020603050405020304" pitchFamily="18" charset="0"/>
              </a:rPr>
              <a:t>CALCULATIONS &amp; KPIs</a:t>
            </a:r>
          </a:p>
        </p:txBody>
      </p:sp>
      <p:sp>
        <p:nvSpPr>
          <p:cNvPr id="3" name="Content Placeholder 2">
            <a:extLst>
              <a:ext uri="{FF2B5EF4-FFF2-40B4-BE49-F238E27FC236}">
                <a16:creationId xmlns:a16="http://schemas.microsoft.com/office/drawing/2014/main" id="{C860C9F4-FE49-21D6-B17F-0BE54F8DAC51}"/>
              </a:ext>
            </a:extLst>
          </p:cNvPr>
          <p:cNvSpPr>
            <a:spLocks noGrp="1"/>
          </p:cNvSpPr>
          <p:nvPr>
            <p:ph idx="1"/>
          </p:nvPr>
        </p:nvSpPr>
        <p:spPr>
          <a:xfrm>
            <a:off x="838200" y="1479672"/>
            <a:ext cx="10515600" cy="5140935"/>
          </a:xfrm>
        </p:spPr>
        <p:txBody>
          <a:bodyPr>
            <a:normAutofit fontScale="77500" lnSpcReduction="20000"/>
          </a:bodyPr>
          <a:lstStyle/>
          <a:p>
            <a:pPr>
              <a:buFont typeface="Wingdings" panose="05000000000000000000" pitchFamily="2" charset="2"/>
              <a:buChar char="v"/>
            </a:pPr>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Measures Created:</a:t>
            </a:r>
          </a:p>
          <a:p>
            <a:pP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300" dirty="0">
                <a:solidFill>
                  <a:schemeClr val="accent2">
                    <a:lumMod val="75000"/>
                  </a:schemeClr>
                </a:solidFill>
                <a:latin typeface="Times New Roman" panose="02020603050405020304" pitchFamily="18" charset="0"/>
                <a:cs typeface="Times New Roman" panose="02020603050405020304" pitchFamily="18" charset="0"/>
              </a:rPr>
              <a:t>Total Revenue=</a:t>
            </a:r>
            <a:r>
              <a:rPr lang="en-IN" sz="2300" dirty="0">
                <a:latin typeface="Times New Roman" panose="02020603050405020304" pitchFamily="18" charset="0"/>
                <a:cs typeface="Times New Roman" panose="02020603050405020304" pitchFamily="18" charset="0"/>
              </a:rPr>
              <a:t>SUM('Fact Table'[TotalPrice])</a:t>
            </a:r>
            <a:endParaRPr lang="en-US" sz="2300" dirty="0">
              <a:solidFill>
                <a:schemeClr val="accent2">
                  <a:lumMod val="75000"/>
                </a:schemeClr>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300" dirty="0">
                <a:solidFill>
                  <a:schemeClr val="accent2">
                    <a:lumMod val="75000"/>
                  </a:schemeClr>
                </a:solidFill>
                <a:latin typeface="Times New Roman" panose="02020603050405020304" pitchFamily="18" charset="0"/>
                <a:cs typeface="Times New Roman" panose="02020603050405020304" pitchFamily="18" charset="0"/>
              </a:rPr>
              <a:t>Total Orders=</a:t>
            </a:r>
            <a:r>
              <a:rPr lang="en-IN" sz="2300" dirty="0">
                <a:latin typeface="Times New Roman" panose="02020603050405020304" pitchFamily="18" charset="0"/>
                <a:cs typeface="Times New Roman" panose="02020603050405020304" pitchFamily="18" charset="0"/>
              </a:rPr>
              <a:t>DISTINCTCOUNT('Fact Table'[OrderId])</a:t>
            </a:r>
            <a:endParaRPr lang="en-US" sz="2300" dirty="0">
              <a:solidFill>
                <a:schemeClr val="accent2">
                  <a:lumMod val="75000"/>
                </a:schemeClr>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300" dirty="0">
                <a:solidFill>
                  <a:schemeClr val="accent2">
                    <a:lumMod val="75000"/>
                  </a:schemeClr>
                </a:solidFill>
                <a:latin typeface="Times New Roman" panose="02020603050405020304" pitchFamily="18" charset="0"/>
                <a:cs typeface="Times New Roman" panose="02020603050405020304" pitchFamily="18" charset="0"/>
              </a:rPr>
              <a:t>Total Pizzas Sold=</a:t>
            </a:r>
            <a:r>
              <a:rPr lang="en-IN" sz="2300" dirty="0">
                <a:latin typeface="Times New Roman" panose="02020603050405020304" pitchFamily="18" charset="0"/>
                <a:cs typeface="Times New Roman" panose="02020603050405020304" pitchFamily="18" charset="0"/>
              </a:rPr>
              <a:t>SUM('Fact Table'[Quantity])</a:t>
            </a:r>
          </a:p>
          <a:p>
            <a:pPr>
              <a:buFont typeface="Wingdings" panose="05000000000000000000" pitchFamily="2" charset="2"/>
              <a:buChar char="v"/>
            </a:pPr>
            <a:r>
              <a:rPr lang="en-US" sz="2300" dirty="0">
                <a:solidFill>
                  <a:schemeClr val="accent2">
                    <a:lumMod val="75000"/>
                  </a:schemeClr>
                </a:solidFill>
                <a:latin typeface="Times New Roman" panose="02020603050405020304" pitchFamily="18" charset="0"/>
                <a:cs typeface="Times New Roman" panose="02020603050405020304" pitchFamily="18" charset="0"/>
              </a:rPr>
              <a:t>Average Order Value=</a:t>
            </a:r>
            <a:r>
              <a:rPr lang="en-IN" sz="2300" dirty="0">
                <a:latin typeface="Times New Roman" panose="02020603050405020304" pitchFamily="18" charset="0"/>
                <a:cs typeface="Times New Roman" panose="02020603050405020304" pitchFamily="18" charset="0"/>
              </a:rPr>
              <a:t>DIVIDE([Total Revenue], [Total Orders])</a:t>
            </a:r>
          </a:p>
          <a:p>
            <a:pPr>
              <a:buFont typeface="Wingdings" panose="05000000000000000000" pitchFamily="2" charset="2"/>
              <a:buChar char="v"/>
            </a:pPr>
            <a:r>
              <a:rPr lang="en-US" sz="2300" dirty="0">
                <a:solidFill>
                  <a:schemeClr val="accent2">
                    <a:lumMod val="75000"/>
                  </a:schemeClr>
                </a:solidFill>
                <a:latin typeface="Times New Roman" panose="02020603050405020304" pitchFamily="18" charset="0"/>
                <a:cs typeface="Times New Roman" panose="02020603050405020304" pitchFamily="18" charset="0"/>
              </a:rPr>
              <a:t>Average Pizzas per Order=</a:t>
            </a:r>
            <a:r>
              <a:rPr lang="en-US" sz="2300" dirty="0">
                <a:latin typeface="Times New Roman" panose="02020603050405020304" pitchFamily="18" charset="0"/>
                <a:cs typeface="Times New Roman" panose="02020603050405020304" pitchFamily="18" charset="0"/>
              </a:rPr>
              <a:t>DIVIDE([Total Pizzas Sold], [Total Orders])</a:t>
            </a:r>
          </a:p>
          <a:p>
            <a:pPr>
              <a:buFont typeface="Wingdings" panose="05000000000000000000" pitchFamily="2" charset="2"/>
              <a:buChar char="v"/>
            </a:pPr>
            <a:r>
              <a:rPr lang="en-US" sz="2300" dirty="0">
                <a:solidFill>
                  <a:schemeClr val="accent2">
                    <a:lumMod val="75000"/>
                  </a:schemeClr>
                </a:solidFill>
                <a:latin typeface="Times New Roman" panose="02020603050405020304" pitchFamily="18" charset="0"/>
                <a:cs typeface="Times New Roman" panose="02020603050405020304" pitchFamily="18" charset="0"/>
              </a:rPr>
              <a:t>Seating Utilization=</a:t>
            </a:r>
            <a:r>
              <a:rPr lang="en-IN" sz="2300" dirty="0">
                <a:latin typeface="Times New Roman" panose="02020603050405020304" pitchFamily="18" charset="0"/>
                <a:cs typeface="Times New Roman" panose="02020603050405020304" pitchFamily="18" charset="0"/>
              </a:rPr>
              <a:t>DIVIDE([Estimated Customers], 60)</a:t>
            </a:r>
          </a:p>
          <a:p>
            <a:pPr>
              <a:buFont typeface="Wingdings" panose="05000000000000000000" pitchFamily="2" charset="2"/>
              <a:buChar char="v"/>
            </a:pPr>
            <a:endParaRPr lang="en-US" sz="2300" dirty="0">
              <a:solidFill>
                <a:schemeClr val="accent2">
                  <a:lumMod val="75000"/>
                </a:schemeClr>
              </a:solidFill>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100" b="1" dirty="0">
                <a:solidFill>
                  <a:srgbClr val="0070C0"/>
                </a:solidFill>
                <a:latin typeface="Times New Roman" panose="02020603050405020304" pitchFamily="18" charset="0"/>
                <a:cs typeface="Times New Roman" panose="02020603050405020304" pitchFamily="18" charset="0"/>
              </a:rPr>
              <a:t>Example</a:t>
            </a:r>
            <a:r>
              <a:rPr lang="en-US" sz="2000" b="1" dirty="0">
                <a:latin typeface="Times New Roman" panose="02020603050405020304" pitchFamily="18" charset="0"/>
                <a:cs typeface="Times New Roman" panose="02020603050405020304" pitchFamily="18" charset="0"/>
              </a:rPr>
              <a:t> </a:t>
            </a:r>
            <a:r>
              <a:rPr lang="en-US" sz="2100" b="1" dirty="0">
                <a:solidFill>
                  <a:srgbClr val="0070C0"/>
                </a:solidFill>
                <a:latin typeface="Times New Roman" panose="02020603050405020304" pitchFamily="18" charset="0"/>
                <a:cs typeface="Times New Roman" panose="02020603050405020304" pitchFamily="18" charset="0"/>
              </a:rPr>
              <a:t>Calculation</a:t>
            </a:r>
            <a:r>
              <a:rPr lang="en-US" sz="2000" b="1" dirty="0">
                <a:latin typeface="Times New Roman" panose="02020603050405020304" pitchFamily="18" charset="0"/>
                <a:cs typeface="Times New Roman" panose="02020603050405020304" pitchFamily="18" charset="0"/>
              </a:rPr>
              <a:t>:</a:t>
            </a:r>
          </a:p>
          <a:p>
            <a:pPr marL="0" indent="0">
              <a:buNone/>
            </a:pP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p>
          <a:p>
            <a:pPr marL="0" indent="0">
              <a:buNone/>
            </a:pPr>
            <a:r>
              <a:rPr lang="en-US" sz="2100" b="1" dirty="0">
                <a:solidFill>
                  <a:srgbClr val="0070C0"/>
                </a:solidFill>
                <a:latin typeface="Times New Roman" panose="02020603050405020304" pitchFamily="18" charset="0"/>
                <a:cs typeface="Times New Roman" panose="02020603050405020304" pitchFamily="18" charset="0"/>
              </a:rPr>
              <a:t>Purpose</a:t>
            </a:r>
            <a:r>
              <a:rPr lang="en-US" sz="2000" b="1" dirty="0">
                <a:latin typeface="Times New Roman" panose="02020603050405020304" pitchFamily="18" charset="0"/>
                <a:cs typeface="Times New Roman" panose="02020603050405020304" pitchFamily="18" charset="0"/>
              </a:rPr>
              <a:t>:</a:t>
            </a:r>
          </a:p>
          <a:p>
            <a:pPr marL="0" indent="0">
              <a:buNone/>
            </a:pP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To convert raw sales data into meaningful business metrics.</a:t>
            </a:r>
          </a:p>
        </p:txBody>
      </p:sp>
      <p:sp>
        <p:nvSpPr>
          <p:cNvPr id="4" name="TextBox 3">
            <a:extLst>
              <a:ext uri="{FF2B5EF4-FFF2-40B4-BE49-F238E27FC236}">
                <a16:creationId xmlns:a16="http://schemas.microsoft.com/office/drawing/2014/main" id="{79A5E013-6283-CE24-24D2-083DB594F283}"/>
              </a:ext>
            </a:extLst>
          </p:cNvPr>
          <p:cNvSpPr txBox="1"/>
          <p:nvPr/>
        </p:nvSpPr>
        <p:spPr>
          <a:xfrm>
            <a:off x="3108080" y="5117123"/>
            <a:ext cx="5543550" cy="369332"/>
          </a:xfrm>
          <a:prstGeom prst="rect">
            <a:avLst/>
          </a:prstGeom>
          <a:noFill/>
          <a:ln>
            <a:solidFill>
              <a:schemeClr val="tx1"/>
            </a:solidFill>
          </a:ln>
        </p:spPr>
        <p:txBody>
          <a:bodyPr wrap="square" rtlCol="0">
            <a:spAutoFit/>
          </a:bodyPr>
          <a:lstStyle/>
          <a:p>
            <a:pPr algn="ctr"/>
            <a:r>
              <a:rPr lang="en-US" dirty="0">
                <a:latin typeface="Times New Roman" panose="02020603050405020304" pitchFamily="18" charset="0"/>
                <a:cs typeface="Times New Roman" panose="02020603050405020304" pitchFamily="18" charset="0"/>
              </a:rPr>
              <a:t> Average Order Value = Total Revenue / Total Orders</a:t>
            </a:r>
            <a:endParaRPr lang="en-IN" dirty="0"/>
          </a:p>
        </p:txBody>
      </p:sp>
    </p:spTree>
    <p:extLst>
      <p:ext uri="{BB962C8B-B14F-4D97-AF65-F5344CB8AC3E}">
        <p14:creationId xmlns:p14="http://schemas.microsoft.com/office/powerpoint/2010/main" val="307492745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9A7C9-C2AE-2D7A-F140-4A8F02A9D5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7D648B-22CC-5FE3-CD21-0A554CEB88AE}"/>
              </a:ext>
            </a:extLst>
          </p:cNvPr>
          <p:cNvSpPr>
            <a:spLocks noGrp="1"/>
          </p:cNvSpPr>
          <p:nvPr>
            <p:ph type="title"/>
          </p:nvPr>
        </p:nvSpPr>
        <p:spPr>
          <a:xfrm>
            <a:off x="838200" y="237393"/>
            <a:ext cx="10515600" cy="1325563"/>
          </a:xfrm>
        </p:spPr>
        <p:txBody>
          <a:bodyPr>
            <a:normAutofit/>
          </a:bodyPr>
          <a:lstStyle/>
          <a:p>
            <a:pPr algn="ctr"/>
            <a:r>
              <a:rPr lang="en-IN" sz="3600" b="1" dirty="0">
                <a:latin typeface="Times New Roman" panose="02020603050405020304" pitchFamily="18" charset="0"/>
                <a:cs typeface="Times New Roman" panose="02020603050405020304" pitchFamily="18" charset="0"/>
              </a:rPr>
              <a:t>VISUALIZATION TECHNIQUES</a:t>
            </a:r>
          </a:p>
        </p:txBody>
      </p:sp>
      <p:sp>
        <p:nvSpPr>
          <p:cNvPr id="3" name="Content Placeholder 2">
            <a:extLst>
              <a:ext uri="{FF2B5EF4-FFF2-40B4-BE49-F238E27FC236}">
                <a16:creationId xmlns:a16="http://schemas.microsoft.com/office/drawing/2014/main" id="{C135D0C5-9848-9D57-ADF4-D5EE69DCA734}"/>
              </a:ext>
            </a:extLst>
          </p:cNvPr>
          <p:cNvSpPr>
            <a:spLocks noGrp="1"/>
          </p:cNvSpPr>
          <p:nvPr>
            <p:ph idx="1"/>
          </p:nvPr>
        </p:nvSpPr>
        <p:spPr>
          <a:xfrm>
            <a:off x="838200" y="1479672"/>
            <a:ext cx="10515600" cy="5140935"/>
          </a:xfrm>
        </p:spPr>
        <p:txBody>
          <a:bodyPr>
            <a:normAutofit fontScale="92500" lnSpcReduction="10000"/>
          </a:bodyPr>
          <a:lstStyle/>
          <a:p>
            <a:pPr>
              <a:buFont typeface="Wingdings" panose="05000000000000000000" pitchFamily="2" charset="2"/>
              <a:buChar char="v"/>
            </a:pPr>
            <a:endParaRPr lang="en-IN" sz="2000" b="1" dirty="0">
              <a:latin typeface="Times New Roman" panose="02020603050405020304" pitchFamily="18" charset="0"/>
              <a:cs typeface="Times New Roman" panose="02020603050405020304" pitchFamily="18" charset="0"/>
            </a:endParaRPr>
          </a:p>
          <a:p>
            <a:pPr marL="0" indent="0">
              <a:buNone/>
            </a:pPr>
            <a:r>
              <a:rPr lang="en-IN" sz="2000" b="1" dirty="0">
                <a:solidFill>
                  <a:srgbClr val="0070C0"/>
                </a:solidFill>
                <a:latin typeface="Times New Roman" panose="02020603050405020304" pitchFamily="18" charset="0"/>
                <a:cs typeface="Times New Roman" panose="02020603050405020304" pitchFamily="18" charset="0"/>
              </a:rPr>
              <a:t>Visualization Techniques Used</a:t>
            </a:r>
          </a:p>
          <a:p>
            <a:pPr>
              <a:buFont typeface="Wingdings" panose="05000000000000000000" pitchFamily="2" charset="2"/>
              <a:buChar char="v"/>
            </a:pPr>
            <a:endParaRPr lang="en-IN" sz="20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KPI Cards for key metrics</a:t>
            </a:r>
          </a:p>
          <a:p>
            <a:pPr>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Bar Charts for comparisons</a:t>
            </a:r>
          </a:p>
          <a:p>
            <a:pPr>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Line Charts for trends</a:t>
            </a:r>
          </a:p>
          <a:p>
            <a:pPr>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Donut Charts for category distribution</a:t>
            </a:r>
          </a:p>
          <a:p>
            <a:pPr>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Matrix &amp; Ranked Charts for top/bottom analysis</a:t>
            </a:r>
          </a:p>
          <a:p>
            <a:pPr>
              <a:buFont typeface="Wingdings" panose="05000000000000000000" pitchFamily="2" charset="2"/>
              <a:buChar char="v"/>
            </a:pPr>
            <a:endParaRPr lang="en-IN" sz="2000" dirty="0">
              <a:latin typeface="Times New Roman" panose="02020603050405020304" pitchFamily="18" charset="0"/>
              <a:cs typeface="Times New Roman" panose="02020603050405020304" pitchFamily="18" charset="0"/>
            </a:endParaRPr>
          </a:p>
          <a:p>
            <a:pPr marL="0" indent="0">
              <a:buNone/>
            </a:pPr>
            <a:r>
              <a:rPr lang="en-IN" sz="2000" b="1" dirty="0">
                <a:solidFill>
                  <a:srgbClr val="0070C0"/>
                </a:solidFill>
                <a:latin typeface="Times New Roman" panose="02020603050405020304" pitchFamily="18" charset="0"/>
                <a:cs typeface="Times New Roman" panose="02020603050405020304" pitchFamily="18" charset="0"/>
              </a:rPr>
              <a:t>Interactivity:</a:t>
            </a:r>
          </a:p>
          <a:p>
            <a:pPr marL="0" indent="0">
              <a:buNone/>
            </a:pPr>
            <a:endParaRPr lang="en-IN"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Slicers (Pizza Category, Size, Month)</a:t>
            </a:r>
          </a:p>
          <a:p>
            <a:pPr>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Drill-down analysis</a:t>
            </a:r>
          </a:p>
          <a:p>
            <a:pPr>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Clear slicer button</a:t>
            </a:r>
          </a:p>
        </p:txBody>
      </p:sp>
    </p:spTree>
    <p:extLst>
      <p:ext uri="{BB962C8B-B14F-4D97-AF65-F5344CB8AC3E}">
        <p14:creationId xmlns:p14="http://schemas.microsoft.com/office/powerpoint/2010/main" val="172118973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3769" y="70336"/>
            <a:ext cx="11641016" cy="6633555"/>
          </a:xfrm>
        </p:spPr>
        <p:txBody>
          <a:bodyPr>
            <a:normAutofit/>
          </a:bodyPr>
          <a:lstStyle/>
          <a:p>
            <a:pPr marL="0" indent="0">
              <a:buNone/>
            </a:pPr>
            <a:r>
              <a:rPr lang="en-US" sz="1400" b="1" dirty="0">
                <a:solidFill>
                  <a:srgbClr val="0070C0"/>
                </a:solidFill>
                <a:latin typeface="Times New Roman" panose="02020603050405020304" pitchFamily="18" charset="0"/>
                <a:cs typeface="Times New Roman" panose="02020603050405020304" pitchFamily="18" charset="0"/>
              </a:rPr>
              <a:t>Dashboard Highlights:</a:t>
            </a:r>
            <a:endParaRPr lang="en-US" sz="14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Total Orders, Revenue, Pizzas Sold</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Orders by weekday</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Revenue by pizza category</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Top pizzas by quantity and revenue</a:t>
            </a:r>
          </a:p>
          <a:p>
            <a:pPr marL="0" indent="0">
              <a:buNone/>
            </a:pPr>
            <a:r>
              <a:rPr lang="en-US" sz="1400" b="1" dirty="0">
                <a:solidFill>
                  <a:srgbClr val="0070C0"/>
                </a:solidFill>
                <a:latin typeface="Times New Roman" panose="02020603050405020304" pitchFamily="18" charset="0"/>
                <a:cs typeface="Times New Roman" panose="02020603050405020304" pitchFamily="18" charset="0"/>
              </a:rPr>
              <a:t>Purpose:</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Enable quick, executive-level understanding of overall sales performance.</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i="1"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sz="1400" dirty="0">
              <a:latin typeface="Times New Roman" panose="02020603050405020304" pitchFamily="18" charset="0"/>
              <a:cs typeface="Times New Roman" panose="02020603050405020304" pitchFamily="18" charset="0"/>
            </a:endParaRPr>
          </a:p>
        </p:txBody>
      </p:sp>
      <p:pic>
        <p:nvPicPr>
          <p:cNvPr id="4" name="Picture" title="This slide contains the following visuals: shape ,TOTAL ORDER ,TOTAL PIZZA SOLD ,AVG ORDER VALUE ,AVG PIZZA PER ORDER  ,SEATING UTILIZATION ,TOTAL REVENUE ,ORDERS BY WEEKDAY ,REVENUE BY PIZZA CATEGORY ,TOP 10 PIZZAS BY REVENUE ,TOP 10 PIZZAS BY QUANTITY SOLD ,slicer ,slicer ,slicer ,slicer ,actionButton. Please refer to the notes on this slide for details">
            <a:hlinkClick r:id="rId2"/>
          </p:cNvPr>
          <p:cNvPicPr>
            <a:picLocks noChangeAspect="1"/>
          </p:cNvPicPr>
          <p:nvPr/>
        </p:nvPicPr>
        <p:blipFill>
          <a:blip r:embed="rId3"/>
          <a:stretch>
            <a:fillRect/>
          </a:stretch>
        </p:blipFill>
        <p:spPr>
          <a:xfrm>
            <a:off x="486507" y="2171700"/>
            <a:ext cx="11057793" cy="4615964"/>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0967" y="154110"/>
            <a:ext cx="10515601" cy="6549782"/>
          </a:xfrm>
        </p:spPr>
        <p:txBody>
          <a:bodyPr>
            <a:normAutofit/>
          </a:bodyPr>
          <a:lstStyle/>
          <a:p>
            <a:pPr marL="0" indent="0">
              <a:buNone/>
            </a:pPr>
            <a:r>
              <a:rPr lang="en-US" sz="1400" b="1" dirty="0">
                <a:solidFill>
                  <a:srgbClr val="0070C0"/>
                </a:solidFill>
                <a:latin typeface="Times New Roman" panose="02020603050405020304" pitchFamily="18" charset="0"/>
                <a:cs typeface="Times New Roman" panose="02020603050405020304" pitchFamily="18" charset="0"/>
              </a:rPr>
              <a:t>Insights:</a:t>
            </a:r>
            <a:endParaRPr lang="en-US" sz="14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Classic and Supreme categories contribute the highest revenue</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Certain pizzas dominate both quantity sold and revenue</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Bottom-selling pizzas have limited contribution to total sales</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Pizza size significantly influences sales volume</a:t>
            </a:r>
          </a:p>
          <a:p>
            <a:pPr>
              <a:buFont typeface="Wingdings" panose="05000000000000000000" pitchFamily="2" charset="2"/>
              <a:buChar char="v"/>
            </a:pPr>
            <a:endParaRPr lang="en-US" sz="1400" dirty="0">
              <a:latin typeface="Times New Roman" panose="02020603050405020304" pitchFamily="18" charset="0"/>
              <a:cs typeface="Times New Roman" panose="02020603050405020304" pitchFamily="18" charset="0"/>
            </a:endParaRPr>
          </a:p>
        </p:txBody>
      </p:sp>
      <p:pic>
        <p:nvPicPr>
          <p:cNvPr id="4" name="Picture" title="This slide contains the following visuals: shape ,TOP 10 PIZZAS -QUANTITY SOLD ,BOTTOM 10 PIZZAS -QUANTITY SOLD ,TOP 10 PIZZAS - REVENUE ,BOTTOM 10 PIZZAS -REVENUE ,slicer ,slicer ,slicer ,slicer ,columnChart. Please refer to the notes on this slide for details">
            <a:hlinkClick r:id="rId2"/>
          </p:cNvPr>
          <p:cNvPicPr>
            <a:picLocks noChangeAspect="1"/>
          </p:cNvPicPr>
          <p:nvPr/>
        </p:nvPicPr>
        <p:blipFill>
          <a:blip r:embed="rId3"/>
          <a:stretch>
            <a:fillRect/>
          </a:stretch>
        </p:blipFill>
        <p:spPr>
          <a:xfrm>
            <a:off x="720968" y="1767254"/>
            <a:ext cx="10750066" cy="4936637"/>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8938" y="131886"/>
            <a:ext cx="11368453" cy="6572006"/>
          </a:xfrm>
        </p:spPr>
        <p:txBody>
          <a:bodyPr>
            <a:normAutofit/>
          </a:bodyPr>
          <a:lstStyle/>
          <a:p>
            <a:pPr marL="0" indent="0">
              <a:buNone/>
            </a:pPr>
            <a:r>
              <a:rPr lang="en-US" sz="1400" b="1" dirty="0">
                <a:solidFill>
                  <a:srgbClr val="0070C0"/>
                </a:solidFill>
              </a:rPr>
              <a:t>Operational Insights:</a:t>
            </a:r>
            <a:endParaRPr lang="en-US" sz="1400" dirty="0">
              <a:solidFill>
                <a:srgbClr val="0070C0"/>
              </a:solidFill>
            </a:endParaRPr>
          </a:p>
          <a:p>
            <a:pPr>
              <a:buFont typeface="Wingdings" panose="05000000000000000000" pitchFamily="2" charset="2"/>
              <a:buChar char="v"/>
            </a:pPr>
            <a:r>
              <a:rPr lang="en-US" sz="1400" dirty="0"/>
              <a:t>Peak orders occur during lunch and dinner hours</a:t>
            </a:r>
          </a:p>
          <a:p>
            <a:pPr>
              <a:buFont typeface="Wingdings" panose="05000000000000000000" pitchFamily="2" charset="2"/>
              <a:buChar char="v"/>
            </a:pPr>
            <a:r>
              <a:rPr lang="en-US" sz="1400" dirty="0"/>
              <a:t>Fridays and weekends record the highest order volumes</a:t>
            </a:r>
          </a:p>
          <a:p>
            <a:pPr>
              <a:buFont typeface="Wingdings" panose="05000000000000000000" pitchFamily="2" charset="2"/>
              <a:buChar char="v"/>
            </a:pPr>
            <a:r>
              <a:rPr lang="en-US" sz="1400" dirty="0"/>
              <a:t>Seating utilization is higher during lunch compared to afternoons</a:t>
            </a:r>
          </a:p>
          <a:p>
            <a:pPr>
              <a:buFont typeface="Wingdings" panose="05000000000000000000" pitchFamily="2" charset="2"/>
              <a:buChar char="v"/>
            </a:pPr>
            <a:r>
              <a:rPr lang="en-US" sz="1400" dirty="0"/>
              <a:t>Monthly order trend remains relatively stable across the year</a:t>
            </a:r>
          </a:p>
          <a:p>
            <a:pPr>
              <a:buFont typeface="Wingdings" panose="05000000000000000000" pitchFamily="2" charset="2"/>
              <a:buChar char="v"/>
            </a:pPr>
            <a:endParaRPr lang="en-US" sz="1400" dirty="0">
              <a:latin typeface="Times New Roman" panose="02020603050405020304" pitchFamily="18" charset="0"/>
              <a:cs typeface="Times New Roman" panose="02020603050405020304" pitchFamily="18" charset="0"/>
            </a:endParaRPr>
          </a:p>
        </p:txBody>
      </p:sp>
      <p:pic>
        <p:nvPicPr>
          <p:cNvPr id="4" name="Picture" title="This slide contains the following visuals: barChart ,slicer ,slicer ,slicer ,slicer ,shape ,ORDERS BY TIME BUCKET ,PIZZA SOLD BY HOUR (PEAK HRS) ,ESTIMATED CUSTOMER BY HOUR ,columnChart ,DAILY ORDERS TREND ,clusteredColumnChart. Please refer to the notes on this slide for details">
            <a:hlinkClick r:id="rId2"/>
          </p:cNvPr>
          <p:cNvPicPr>
            <a:picLocks noChangeAspect="1"/>
          </p:cNvPicPr>
          <p:nvPr/>
        </p:nvPicPr>
        <p:blipFill>
          <a:blip r:embed="rId3"/>
          <a:stretch>
            <a:fillRect/>
          </a:stretch>
        </p:blipFill>
        <p:spPr>
          <a:xfrm>
            <a:off x="1266094" y="1740878"/>
            <a:ext cx="9908930" cy="5055576"/>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8069" y="202222"/>
            <a:ext cx="11271739" cy="6501669"/>
          </a:xfrm>
        </p:spPr>
        <p:txBody>
          <a:bodyPr>
            <a:normAutofit/>
          </a:bodyPr>
          <a:lstStyle/>
          <a:p>
            <a:pPr marL="0" indent="0">
              <a:buNone/>
            </a:pPr>
            <a:r>
              <a:rPr lang="en-US" sz="1400" b="1" dirty="0">
                <a:solidFill>
                  <a:srgbClr val="0070C0"/>
                </a:solidFill>
                <a:latin typeface="Times New Roman" panose="02020603050405020304" pitchFamily="18" charset="0"/>
                <a:cs typeface="Times New Roman" panose="02020603050405020304" pitchFamily="18" charset="0"/>
              </a:rPr>
              <a:t>Executive Summary Insights</a:t>
            </a:r>
            <a:endParaRPr lang="en-US" sz="1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Average order value remains consistent across days</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Large and Medium pizzas are the most sold sizes</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Classic pizza category contributes the highest revenue share</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Operational efficiency can be improved during non-peak hours</a:t>
            </a:r>
          </a:p>
        </p:txBody>
      </p:sp>
      <p:pic>
        <p:nvPicPr>
          <p:cNvPr id="4" name="Picture" title="This slide contains the following visuals: shape ,AVERAGE ORDER VALUE BY DAY ,SEATING UTILIZATION ,TOTAL PIZZA SOLD BY PIZZA SIZE ,REVENUE BY PIZZA CATEGORY ,slicer ,slicer ,slicer. Please refer to the notes on this slide for details">
            <a:hlinkClick r:id="rId2"/>
          </p:cNvPr>
          <p:cNvPicPr>
            <a:picLocks noChangeAspect="1"/>
          </p:cNvPicPr>
          <p:nvPr/>
        </p:nvPicPr>
        <p:blipFill>
          <a:blip r:embed="rId3"/>
          <a:stretch>
            <a:fillRect/>
          </a:stretch>
        </p:blipFill>
        <p:spPr>
          <a:xfrm>
            <a:off x="720966" y="1846386"/>
            <a:ext cx="10515601" cy="4927844"/>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66991-3AEE-9515-8ABE-569E994E46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33A79A-9AA8-CFBD-5B6A-FE61DB2698F7}"/>
              </a:ext>
            </a:extLst>
          </p:cNvPr>
          <p:cNvSpPr>
            <a:spLocks noGrp="1"/>
          </p:cNvSpPr>
          <p:nvPr>
            <p:ph type="title"/>
          </p:nvPr>
        </p:nvSpPr>
        <p:spPr>
          <a:xfrm>
            <a:off x="720967" y="699232"/>
            <a:ext cx="10515600" cy="751499"/>
          </a:xfrm>
        </p:spPr>
        <p:txBody>
          <a:bodyPr>
            <a:normAutofit/>
          </a:bodyPr>
          <a:lstStyle/>
          <a:p>
            <a:pPr algn="ctr"/>
            <a:r>
              <a:rPr lang="en-IN" sz="3200" b="1" dirty="0">
                <a:latin typeface="Times New Roman" panose="02020603050405020304" pitchFamily="18" charset="0"/>
                <a:cs typeface="Times New Roman" panose="02020603050405020304" pitchFamily="18" charset="0"/>
              </a:rPr>
              <a:t>KEY </a:t>
            </a:r>
            <a:r>
              <a:rPr lang="en-IN" sz="3600" b="1" dirty="0">
                <a:latin typeface="Times New Roman" panose="02020603050405020304" pitchFamily="18" charset="0"/>
                <a:cs typeface="Times New Roman" panose="02020603050405020304" pitchFamily="18" charset="0"/>
              </a:rPr>
              <a:t>FINDINGS</a:t>
            </a:r>
          </a:p>
        </p:txBody>
      </p:sp>
      <p:sp>
        <p:nvSpPr>
          <p:cNvPr id="3" name="Content Placeholder 2">
            <a:extLst>
              <a:ext uri="{FF2B5EF4-FFF2-40B4-BE49-F238E27FC236}">
                <a16:creationId xmlns:a16="http://schemas.microsoft.com/office/drawing/2014/main" id="{25C41B3E-C0C0-9966-51D5-2CFAF8271AE5}"/>
              </a:ext>
            </a:extLst>
          </p:cNvPr>
          <p:cNvSpPr>
            <a:spLocks noGrp="1"/>
          </p:cNvSpPr>
          <p:nvPr>
            <p:ph idx="1"/>
          </p:nvPr>
        </p:nvSpPr>
        <p:spPr>
          <a:xfrm>
            <a:off x="720967" y="1450731"/>
            <a:ext cx="10515601" cy="4563207"/>
          </a:xfrm>
        </p:spPr>
        <p:txBody>
          <a:bodyPr>
            <a:normAutofit/>
          </a:bodyPr>
          <a:lstStyle/>
          <a:p>
            <a:pPr marL="0" indent="0">
              <a:buNone/>
            </a:pPr>
            <a:endParaRPr lang="en-US" sz="2000" b="1" dirty="0">
              <a:solidFill>
                <a:srgbClr val="0070C0"/>
              </a:solidFill>
              <a:latin typeface="Times New Roman" panose="02020603050405020304" pitchFamily="18" charset="0"/>
              <a:cs typeface="Times New Roman" panose="02020603050405020304" pitchFamily="18" charset="0"/>
            </a:endParaRPr>
          </a:p>
          <a:p>
            <a:pPr marL="0" indent="0">
              <a:buNone/>
            </a:pPr>
            <a:endParaRPr lang="en-US" sz="2000" b="1" dirty="0">
              <a:solidFill>
                <a:srgbClr val="0070C0"/>
              </a:solidFill>
              <a:latin typeface="Times New Roman" panose="02020603050405020304" pitchFamily="18" charset="0"/>
              <a:cs typeface="Times New Roman" panose="02020603050405020304" pitchFamily="18" charset="0"/>
            </a:endParaRP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Key Findings</a:t>
            </a:r>
          </a:p>
          <a:p>
            <a:pPr marL="0" indent="0">
              <a:buNone/>
            </a:pPr>
            <a:endParaRPr lang="en-US" sz="2000" b="1"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Fridays and weekends are the busiest periods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Classic pizzas are the best-selling category</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 small number of pizzas contribute the majority of revenue</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Seating capacity is underutilized during afternoon hours</a:t>
            </a:r>
          </a:p>
          <a:p>
            <a:pP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445554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4338D-12CE-42CA-6930-BF719A39FE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4F08CE-DF85-049B-05C3-DEE725AF4D85}"/>
              </a:ext>
            </a:extLst>
          </p:cNvPr>
          <p:cNvSpPr>
            <a:spLocks noGrp="1"/>
          </p:cNvSpPr>
          <p:nvPr>
            <p:ph type="title"/>
          </p:nvPr>
        </p:nvSpPr>
        <p:spPr>
          <a:xfrm>
            <a:off x="720967" y="699232"/>
            <a:ext cx="10515600" cy="751499"/>
          </a:xfrm>
        </p:spPr>
        <p:txBody>
          <a:bodyPr>
            <a:normAutofit/>
          </a:bodyPr>
          <a:lstStyle/>
          <a:p>
            <a:pPr algn="ctr"/>
            <a:r>
              <a:rPr lang="en-IN" sz="3600" b="1" dirty="0">
                <a:latin typeface="Times New Roman" panose="02020603050405020304" pitchFamily="18" charset="0"/>
                <a:cs typeface="Times New Roman" panose="02020603050405020304" pitchFamily="18" charset="0"/>
              </a:rPr>
              <a:t>CONCLUSION &amp; FUTURE SCOPE</a:t>
            </a:r>
          </a:p>
        </p:txBody>
      </p:sp>
      <p:sp>
        <p:nvSpPr>
          <p:cNvPr id="3" name="Content Placeholder 2">
            <a:extLst>
              <a:ext uri="{FF2B5EF4-FFF2-40B4-BE49-F238E27FC236}">
                <a16:creationId xmlns:a16="http://schemas.microsoft.com/office/drawing/2014/main" id="{7F35FB06-C8E7-6053-776B-B95B98C6B593}"/>
              </a:ext>
            </a:extLst>
          </p:cNvPr>
          <p:cNvSpPr>
            <a:spLocks noGrp="1"/>
          </p:cNvSpPr>
          <p:nvPr>
            <p:ph idx="1"/>
          </p:nvPr>
        </p:nvSpPr>
        <p:spPr>
          <a:xfrm>
            <a:off x="720967" y="1450731"/>
            <a:ext cx="10515601" cy="4563207"/>
          </a:xfrm>
        </p:spPr>
        <p:txBody>
          <a:bodyPr>
            <a:normAutofit lnSpcReduction="10000"/>
          </a:bodyPr>
          <a:lstStyle/>
          <a:p>
            <a:pPr marL="0" indent="0">
              <a:buNone/>
            </a:pPr>
            <a:endParaRPr lang="en-US" sz="2000" b="1" dirty="0">
              <a:solidFill>
                <a:srgbClr val="0070C0"/>
              </a:solidFill>
              <a:latin typeface="Times New Roman" panose="02020603050405020304" pitchFamily="18" charset="0"/>
              <a:cs typeface="Times New Roman" panose="02020603050405020304" pitchFamily="18" charset="0"/>
            </a:endParaRP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Conclusion</a:t>
            </a:r>
          </a:p>
          <a:p>
            <a:pPr marL="0" indent="0">
              <a:buNone/>
            </a:pPr>
            <a:endParaRPr lang="en-US" sz="2000" b="1" dirty="0">
              <a:solidFill>
                <a:srgbClr val="0070C0"/>
              </a:solidFill>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The Pizza Sales Dashboard successfully transforms transactional sales data into actionable insights. It helps restaurant management understand sales trends, customer behavior, and operational efficiency.</a:t>
            </a:r>
          </a:p>
          <a:p>
            <a:pPr marL="0" indent="0">
              <a:buNone/>
            </a:pPr>
            <a:endParaRPr lang="en-US" sz="2000" dirty="0">
              <a:solidFill>
                <a:srgbClr val="0070C0"/>
              </a:solidFill>
              <a:latin typeface="Times New Roman" panose="02020603050405020304" pitchFamily="18" charset="0"/>
              <a:cs typeface="Times New Roman" panose="02020603050405020304" pitchFamily="18" charset="0"/>
            </a:endParaRP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Future Enhancements</a:t>
            </a:r>
          </a:p>
          <a:p>
            <a:pPr marL="0" indent="0">
              <a:buNone/>
            </a:pPr>
            <a:endParaRPr lang="en-US" sz="2000" b="1"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Demand forecasting for peak periods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Promotional impact analysis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Integration with real-time POS data</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Advanced customer segmentation</a:t>
            </a:r>
          </a:p>
        </p:txBody>
      </p:sp>
    </p:spTree>
    <p:extLst>
      <p:ext uri="{BB962C8B-B14F-4D97-AF65-F5344CB8AC3E}">
        <p14:creationId xmlns:p14="http://schemas.microsoft.com/office/powerpoint/2010/main" val="78596736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TotalTime>
  <Words>618</Words>
  <Application>Microsoft Office PowerPoint</Application>
  <PresentationFormat>Widescreen</PresentationFormat>
  <Paragraphs>119</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Times New Roman</vt:lpstr>
      <vt:lpstr>Wingdings</vt:lpstr>
      <vt:lpstr>Custom Design</vt:lpstr>
      <vt:lpstr>PIZZA SALES PERFORMANCE DASHBOARD (2015)</vt:lpstr>
      <vt:lpstr>PROBLEM STATEMENT</vt:lpstr>
      <vt:lpstr>PROJECT OBJECTIVES</vt:lpstr>
      <vt:lpstr>DATA PREPARATION (TECHNIQUES)</vt:lpstr>
      <vt:lpstr>CALCULATIONS &amp; KPIs</vt:lpstr>
      <vt:lpstr>VISUALIZATION TECHNIQUES</vt:lpstr>
      <vt:lpstr>PowerPoint Presentation</vt:lpstr>
      <vt:lpstr>PowerPoint Presentation</vt:lpstr>
      <vt:lpstr>PowerPoint Presentation</vt:lpstr>
      <vt:lpstr>PowerPoint Presentation</vt:lpstr>
      <vt:lpstr>KEY FINDINGS</vt:lpstr>
      <vt:lpstr>CONCLUSION &amp; FUTURE SCOPE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HARISH  V</cp:lastModifiedBy>
  <cp:revision>5</cp:revision>
  <dcterms:created xsi:type="dcterms:W3CDTF">2016-09-04T11:54:55Z</dcterms:created>
  <dcterms:modified xsi:type="dcterms:W3CDTF">2025-12-28T17:03:37Z</dcterms:modified>
</cp:coreProperties>
</file>