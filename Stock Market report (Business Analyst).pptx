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5"/>
  </p:notesMasterIdLst>
  <p:sldIdLst>
    <p:sldId id="281" r:id="rId2"/>
    <p:sldId id="282" r:id="rId3"/>
    <p:sldId id="283" r:id="rId4"/>
    <p:sldId id="284" r:id="rId5"/>
    <p:sldId id="285" r:id="rId6"/>
    <p:sldId id="286" r:id="rId7"/>
    <p:sldId id="317" r:id="rId8"/>
    <p:sldId id="318" r:id="rId9"/>
    <p:sldId id="319" r:id="rId10"/>
    <p:sldId id="320" r:id="rId11"/>
    <p:sldId id="321" r:id="rId12"/>
    <p:sldId id="292" r:id="rId13"/>
    <p:sldId id="293"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98" autoAdjust="0"/>
    <p:restoredTop sz="86410" autoAdjust="0"/>
  </p:normalViewPr>
  <p:slideViewPr>
    <p:cSldViewPr snapToGrid="0" snapToObjects="1">
      <p:cViewPr varScale="1">
        <p:scale>
          <a:sx n="79" d="100"/>
          <a:sy n="79" d="100"/>
        </p:scale>
        <p:origin x="739" y="72"/>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12/28/2025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12/28/2025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12/28/2025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12/28/2025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12/28/2025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12/28/2025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12/28/2025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12/28/2025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app.powerbi.com/groups/me/reports/35378b61-1143-47df-937e-af9490431113/?pbi_source=PowerPoint"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app.powerbi.com/groups/me/reports/35378b61-1143-47df-937e-af9490431113/?pbi_source=PowerPoint"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app.powerbi.com/groups/me/reports/35378b61-1143-47df-937e-af9490431113/?pbi_source=PowerPoint"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app.powerbi.com/groups/me/reports/35378b61-1143-47df-937e-af9490431113/?pbi_source=PowerPoint"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app.powerbi.com/groups/me/reports/35378b61-1143-47df-937e-af9490431113/?pbi_source=PowerPoint"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5C7D2-C689-2954-7975-298F06CDF2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D04C55-BB28-FFCD-F819-3F25502BF06E}"/>
              </a:ext>
            </a:extLst>
          </p:cNvPr>
          <p:cNvSpPr>
            <a:spLocks noGrp="1"/>
          </p:cNvSpPr>
          <p:nvPr>
            <p:ph type="title"/>
          </p:nvPr>
        </p:nvSpPr>
        <p:spPr>
          <a:xfrm>
            <a:off x="720968" y="389181"/>
            <a:ext cx="10515600" cy="751499"/>
          </a:xfr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normAutofit/>
          </a:bodyPr>
          <a:lstStyle/>
          <a:p>
            <a:pPr algn="ctr"/>
            <a:r>
              <a:rPr lang="en-IN" sz="3600" b="1" dirty="0">
                <a:solidFill>
                  <a:schemeClr val="accent5">
                    <a:lumMod val="50000"/>
                  </a:schemeClr>
                </a:solidFill>
                <a:latin typeface="Times New Roman" panose="02020603050405020304" pitchFamily="18" charset="0"/>
                <a:cs typeface="Times New Roman" panose="02020603050405020304" pitchFamily="18" charset="0"/>
              </a:rPr>
              <a:t>STOCK MARKET ANALYSIS DASHBOARD</a:t>
            </a:r>
          </a:p>
        </p:txBody>
      </p:sp>
      <p:sp>
        <p:nvSpPr>
          <p:cNvPr id="3" name="Content Placeholder 2">
            <a:extLst>
              <a:ext uri="{FF2B5EF4-FFF2-40B4-BE49-F238E27FC236}">
                <a16:creationId xmlns:a16="http://schemas.microsoft.com/office/drawing/2014/main" id="{31DCBD39-4398-F0A7-B0D5-266409DF9737}"/>
              </a:ext>
            </a:extLst>
          </p:cNvPr>
          <p:cNvSpPr>
            <a:spLocks noGrp="1"/>
          </p:cNvSpPr>
          <p:nvPr>
            <p:ph idx="1"/>
          </p:nvPr>
        </p:nvSpPr>
        <p:spPr>
          <a:xfrm>
            <a:off x="720967" y="1450731"/>
            <a:ext cx="10515601" cy="4563207"/>
          </a:xfrm>
        </p:spPr>
        <p:txBody>
          <a:bodyPr>
            <a:normAutofit lnSpcReduction="10000"/>
          </a:bodyPr>
          <a:lstStyle/>
          <a:p>
            <a:pPr marL="0" indent="0">
              <a:buNone/>
            </a:pPr>
            <a:endParaRPr lang="en-US" sz="2000" b="1" dirty="0">
              <a:solidFill>
                <a:srgbClr val="0070C0"/>
              </a:solidFill>
              <a:latin typeface="Times New Roman" panose="02020603050405020304" pitchFamily="18" charset="0"/>
              <a:cs typeface="Times New Roman" panose="02020603050405020304" pitchFamily="18" charset="0"/>
            </a:endParaRPr>
          </a:p>
          <a:p>
            <a:pPr marL="0" indent="0">
              <a:buNone/>
            </a:pPr>
            <a:r>
              <a:rPr lang="en-US" sz="2000" b="1" dirty="0">
                <a:solidFill>
                  <a:srgbClr val="0070C0"/>
                </a:solidFill>
                <a:latin typeface="Times New Roman" panose="02020603050405020304" pitchFamily="18" charset="0"/>
                <a:cs typeface="Times New Roman" panose="02020603050405020304" pitchFamily="18" charset="0"/>
              </a:rPr>
              <a:t>Domain:</a:t>
            </a:r>
            <a:r>
              <a:rPr lang="en-US" sz="2000" dirty="0">
                <a:latin typeface="Times New Roman" panose="02020603050405020304" pitchFamily="18" charset="0"/>
                <a:cs typeface="Times New Roman" panose="02020603050405020304" pitchFamily="18" charset="0"/>
              </a:rPr>
              <a:t> Business Analyst</a:t>
            </a:r>
          </a:p>
          <a:p>
            <a:pPr marL="0" indent="0">
              <a:buNone/>
            </a:pPr>
            <a:br>
              <a:rPr lang="en-US" sz="2000" dirty="0">
                <a:latin typeface="Times New Roman" panose="02020603050405020304" pitchFamily="18" charset="0"/>
                <a:cs typeface="Times New Roman" panose="02020603050405020304" pitchFamily="18" charset="0"/>
              </a:rPr>
            </a:br>
            <a:r>
              <a:rPr lang="en-US" sz="2000" b="1" dirty="0">
                <a:solidFill>
                  <a:srgbClr val="0070C0"/>
                </a:solidFill>
                <a:latin typeface="Times New Roman" panose="02020603050405020304" pitchFamily="18" charset="0"/>
                <a:cs typeface="Times New Roman" panose="02020603050405020304" pitchFamily="18" charset="0"/>
              </a:rPr>
              <a:t>Tool Used:</a:t>
            </a:r>
            <a:r>
              <a:rPr lang="en-US" sz="2000" dirty="0">
                <a:latin typeface="Times New Roman" panose="02020603050405020304" pitchFamily="18" charset="0"/>
                <a:cs typeface="Times New Roman" panose="02020603050405020304" pitchFamily="18" charset="0"/>
              </a:rPr>
              <a:t> Power BI</a:t>
            </a:r>
          </a:p>
          <a:p>
            <a:pPr marL="0" indent="0">
              <a:buNone/>
            </a:pPr>
            <a:br>
              <a:rPr lang="en-US" sz="2000" dirty="0">
                <a:latin typeface="Times New Roman" panose="02020603050405020304" pitchFamily="18" charset="0"/>
                <a:cs typeface="Times New Roman" panose="02020603050405020304" pitchFamily="18" charset="0"/>
              </a:rPr>
            </a:br>
            <a:r>
              <a:rPr lang="en-US" sz="2000" b="1" dirty="0">
                <a:solidFill>
                  <a:srgbClr val="0070C0"/>
                </a:solidFill>
                <a:latin typeface="Times New Roman" panose="02020603050405020304" pitchFamily="18" charset="0"/>
                <a:cs typeface="Times New Roman" panose="02020603050405020304" pitchFamily="18" charset="0"/>
              </a:rPr>
              <a:t>Dataset:</a:t>
            </a:r>
            <a:r>
              <a:rPr lang="en-US" sz="2000" dirty="0">
                <a:solidFill>
                  <a:srgbClr val="0070C0"/>
                </a:solidFill>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Historical Stock Price Data</a:t>
            </a:r>
          </a:p>
          <a:p>
            <a:pPr marL="0" indent="0">
              <a:buNone/>
            </a:pPr>
            <a:br>
              <a:rPr lang="en-US" sz="2000" dirty="0">
                <a:latin typeface="Times New Roman" panose="02020603050405020304" pitchFamily="18" charset="0"/>
                <a:cs typeface="Times New Roman" panose="02020603050405020304" pitchFamily="18" charset="0"/>
              </a:rPr>
            </a:br>
            <a:r>
              <a:rPr lang="en-US" sz="2000" b="1" dirty="0">
                <a:solidFill>
                  <a:srgbClr val="0070C0"/>
                </a:solidFill>
                <a:latin typeface="Times New Roman" panose="02020603050405020304" pitchFamily="18" charset="0"/>
                <a:cs typeface="Times New Roman" panose="02020603050405020304" pitchFamily="18" charset="0"/>
              </a:rPr>
              <a:t>Project Level:</a:t>
            </a:r>
            <a:r>
              <a:rPr lang="en-US" sz="2000" dirty="0">
                <a:solidFill>
                  <a:srgbClr val="0070C0"/>
                </a:solidFill>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Intermediate</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b="1" dirty="0">
                <a:solidFill>
                  <a:srgbClr val="0070C0"/>
                </a:solidFill>
                <a:latin typeface="Times New Roman" panose="02020603050405020304" pitchFamily="18" charset="0"/>
                <a:cs typeface="Times New Roman" panose="02020603050405020304" pitchFamily="18" charset="0"/>
              </a:rPr>
              <a:t>Description:</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This project analyzes historical stock market data of major companies including Apple Inc, Microsoft Corp, Google Inc, and Netflix Inc. The dashboard provides insights into price trends, trading volume, volatility, and comparative stock performance to support data-driven investment analysis.</a:t>
            </a:r>
          </a:p>
        </p:txBody>
      </p:sp>
    </p:spTree>
    <p:extLst>
      <p:ext uri="{BB962C8B-B14F-4D97-AF65-F5344CB8AC3E}">
        <p14:creationId xmlns:p14="http://schemas.microsoft.com/office/powerpoint/2010/main" val="202842434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BA9426-406B-42C4-8CF8-5AF19C5CB0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EF3037-68F2-C910-AFA6-EBB7B90447DC}"/>
              </a:ext>
            </a:extLst>
          </p:cNvPr>
          <p:cNvSpPr>
            <a:spLocks noGrp="1"/>
          </p:cNvSpPr>
          <p:nvPr>
            <p:ph type="title"/>
          </p:nvPr>
        </p:nvSpPr>
        <p:spPr>
          <a:xfrm>
            <a:off x="720967" y="699232"/>
            <a:ext cx="10515600" cy="751499"/>
          </a:xfrm>
        </p:spPr>
        <p:txBody>
          <a:bodyPr>
            <a:normAutofit/>
          </a:bodyPr>
          <a:lstStyle/>
          <a:p>
            <a:pPr algn="ctr"/>
            <a:r>
              <a:rPr lang="en-IN" sz="3600" b="1"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EA83D601-27F0-EC3D-1F6D-F796E2E333A4}"/>
              </a:ext>
            </a:extLst>
          </p:cNvPr>
          <p:cNvSpPr>
            <a:spLocks noGrp="1"/>
          </p:cNvSpPr>
          <p:nvPr>
            <p:ph idx="1"/>
          </p:nvPr>
        </p:nvSpPr>
        <p:spPr>
          <a:xfrm>
            <a:off x="720967" y="1450731"/>
            <a:ext cx="10515601" cy="4563207"/>
          </a:xfrm>
        </p:spPr>
        <p:txBody>
          <a:bodyPr>
            <a:normAutofit/>
          </a:bodyPr>
          <a:lstStyle/>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Stock market data is highly dynamic and complex, making it difficult for investors and analysts to identify trends, price movements, and risk levels without proper analytical tools.</a:t>
            </a:r>
          </a:p>
          <a:p>
            <a:pPr>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pPr marL="0" indent="0">
              <a:buNone/>
            </a:pPr>
            <a:r>
              <a:rPr lang="en-US" sz="2000" b="1" dirty="0">
                <a:solidFill>
                  <a:srgbClr val="0070C0"/>
                </a:solidFill>
                <a:latin typeface="Times New Roman" panose="02020603050405020304" pitchFamily="18" charset="0"/>
                <a:cs typeface="Times New Roman" panose="02020603050405020304" pitchFamily="18" charset="0"/>
              </a:rPr>
              <a:t>Challenges Addressed:</a:t>
            </a:r>
          </a:p>
          <a:p>
            <a:pPr marL="0" indent="0">
              <a:buNone/>
            </a:pPr>
            <a:endParaRPr lang="en-US" sz="2000" dirty="0">
              <a:solidFill>
                <a:srgbClr val="007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Understanding stock price trends over time</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Comparing performance across multiple companies</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Identifying high and </a:t>
            </a:r>
            <a:r>
              <a:rPr lang="en-US" sz="2000" dirty="0" err="1">
                <a:latin typeface="Times New Roman" panose="02020603050405020304" pitchFamily="18" charset="0"/>
                <a:cs typeface="Times New Roman" panose="02020603050405020304" pitchFamily="18" charset="0"/>
              </a:rPr>
              <a:t>lowprice</a:t>
            </a:r>
            <a:r>
              <a:rPr lang="en-US" sz="2000" dirty="0">
                <a:latin typeface="Times New Roman" panose="02020603050405020304" pitchFamily="18" charset="0"/>
                <a:cs typeface="Times New Roman" panose="02020603050405020304" pitchFamily="18" charset="0"/>
              </a:rPr>
              <a:t> ranges</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Measuring volatility and daily returns</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Analyzing trading volume patterns</a:t>
            </a:r>
          </a:p>
        </p:txBody>
      </p:sp>
    </p:spTree>
    <p:extLst>
      <p:ext uri="{BB962C8B-B14F-4D97-AF65-F5344CB8AC3E}">
        <p14:creationId xmlns:p14="http://schemas.microsoft.com/office/powerpoint/2010/main" val="52180574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8C90F-B41C-0B7C-F99E-0099094855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3A80F4-80B2-8793-D09D-836FC7C4ECC0}"/>
              </a:ext>
            </a:extLst>
          </p:cNvPr>
          <p:cNvSpPr>
            <a:spLocks noGrp="1"/>
          </p:cNvSpPr>
          <p:nvPr>
            <p:ph type="title"/>
          </p:nvPr>
        </p:nvSpPr>
        <p:spPr>
          <a:xfrm>
            <a:off x="720967" y="699232"/>
            <a:ext cx="10515600" cy="751499"/>
          </a:xfrm>
        </p:spPr>
        <p:txBody>
          <a:bodyPr>
            <a:normAutofit/>
          </a:bodyPr>
          <a:lstStyle/>
          <a:p>
            <a:pPr algn="ctr"/>
            <a:r>
              <a:rPr lang="en-IN" sz="3600" b="1" dirty="0">
                <a:latin typeface="Times New Roman" panose="02020603050405020304" pitchFamily="18" charset="0"/>
                <a:cs typeface="Times New Roman" panose="02020603050405020304" pitchFamily="18" charset="0"/>
              </a:rPr>
              <a:t>PROJECT OBJECTIVES</a:t>
            </a:r>
          </a:p>
        </p:txBody>
      </p:sp>
      <p:sp>
        <p:nvSpPr>
          <p:cNvPr id="3" name="Content Placeholder 2">
            <a:extLst>
              <a:ext uri="{FF2B5EF4-FFF2-40B4-BE49-F238E27FC236}">
                <a16:creationId xmlns:a16="http://schemas.microsoft.com/office/drawing/2014/main" id="{B685000F-DD72-5A62-0E28-78ED524F483A}"/>
              </a:ext>
            </a:extLst>
          </p:cNvPr>
          <p:cNvSpPr>
            <a:spLocks noGrp="1"/>
          </p:cNvSpPr>
          <p:nvPr>
            <p:ph idx="1"/>
          </p:nvPr>
        </p:nvSpPr>
        <p:spPr>
          <a:xfrm>
            <a:off x="720967" y="1450731"/>
            <a:ext cx="10515601" cy="4563207"/>
          </a:xfrm>
        </p:spPr>
        <p:txBody>
          <a:bodyPr>
            <a:normAutofit/>
          </a:bodyPr>
          <a:lstStyle/>
          <a:p>
            <a:pPr marL="0" indent="0">
              <a:buNone/>
            </a:pPr>
            <a:endParaRPr lang="en-US" sz="2000" b="1" dirty="0">
              <a:solidFill>
                <a:srgbClr val="0070C0"/>
              </a:solidFill>
              <a:latin typeface="Times New Roman" panose="02020603050405020304" pitchFamily="18" charset="0"/>
              <a:cs typeface="Times New Roman" panose="02020603050405020304" pitchFamily="18" charset="0"/>
            </a:endParaRPr>
          </a:p>
          <a:p>
            <a:pPr marL="0" indent="0">
              <a:buNone/>
            </a:pPr>
            <a:r>
              <a:rPr lang="en-US" sz="2000" b="1" dirty="0">
                <a:solidFill>
                  <a:srgbClr val="0070C0"/>
                </a:solidFill>
                <a:latin typeface="Times New Roman" panose="02020603050405020304" pitchFamily="18" charset="0"/>
                <a:cs typeface="Times New Roman" panose="02020603050405020304" pitchFamily="18" charset="0"/>
              </a:rPr>
              <a:t>Objectives</a:t>
            </a:r>
          </a:p>
          <a:p>
            <a:pPr marL="0" indent="0">
              <a:buNone/>
            </a:pPr>
            <a:endParaRPr lang="en-US" sz="2000" b="1" dirty="0">
              <a:solidFill>
                <a:srgbClr val="007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Analyze stock closing price trends</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Calculate moving averages for trend smoothing</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Measure stock volatility and daily returns</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Compare stock performance across companies</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Provide interactive insights using Power BI dashboards</a:t>
            </a:r>
          </a:p>
        </p:txBody>
      </p:sp>
    </p:spTree>
    <p:extLst>
      <p:ext uri="{BB962C8B-B14F-4D97-AF65-F5344CB8AC3E}">
        <p14:creationId xmlns:p14="http://schemas.microsoft.com/office/powerpoint/2010/main" val="141658114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3770A-6682-868F-F4E4-C7EFECE0F1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972889-6BCB-BBB9-EFC3-36B5972C2619}"/>
              </a:ext>
            </a:extLst>
          </p:cNvPr>
          <p:cNvSpPr>
            <a:spLocks noGrp="1"/>
          </p:cNvSpPr>
          <p:nvPr>
            <p:ph type="title"/>
          </p:nvPr>
        </p:nvSpPr>
        <p:spPr>
          <a:xfrm>
            <a:off x="720967" y="422031"/>
            <a:ext cx="10515600" cy="751499"/>
          </a:xfrm>
        </p:spPr>
        <p:txBody>
          <a:bodyPr>
            <a:normAutofit/>
          </a:bodyPr>
          <a:lstStyle/>
          <a:p>
            <a:pPr algn="ctr"/>
            <a:r>
              <a:rPr lang="en-IN" sz="3600" b="1" dirty="0">
                <a:latin typeface="Times New Roman" panose="02020603050405020304" pitchFamily="18" charset="0"/>
                <a:cs typeface="Times New Roman" panose="02020603050405020304" pitchFamily="18" charset="0"/>
              </a:rPr>
              <a:t>DATA PREPARATION (TECHNIQUES)</a:t>
            </a:r>
          </a:p>
        </p:txBody>
      </p:sp>
      <p:sp>
        <p:nvSpPr>
          <p:cNvPr id="3" name="Content Placeholder 2">
            <a:extLst>
              <a:ext uri="{FF2B5EF4-FFF2-40B4-BE49-F238E27FC236}">
                <a16:creationId xmlns:a16="http://schemas.microsoft.com/office/drawing/2014/main" id="{6F348FB4-8B19-1F09-7FB2-79B4231F9E83}"/>
              </a:ext>
            </a:extLst>
          </p:cNvPr>
          <p:cNvSpPr>
            <a:spLocks noGrp="1"/>
          </p:cNvSpPr>
          <p:nvPr>
            <p:ph idx="1"/>
          </p:nvPr>
        </p:nvSpPr>
        <p:spPr>
          <a:xfrm>
            <a:off x="720967" y="1450731"/>
            <a:ext cx="10515601" cy="4985238"/>
          </a:xfrm>
        </p:spPr>
        <p:txBody>
          <a:bodyPr>
            <a:normAutofit/>
          </a:bodyPr>
          <a:lstStyle/>
          <a:p>
            <a:pPr marL="0" indent="0">
              <a:buNone/>
            </a:pPr>
            <a:r>
              <a:rPr lang="en-US" sz="2000" b="1" dirty="0">
                <a:solidFill>
                  <a:srgbClr val="0070C0"/>
                </a:solidFill>
                <a:latin typeface="Times New Roman" panose="02020603050405020304" pitchFamily="18" charset="0"/>
                <a:cs typeface="Times New Roman" panose="02020603050405020304" pitchFamily="18" charset="0"/>
              </a:rPr>
              <a:t>Steps Performed:</a:t>
            </a:r>
            <a:endParaRPr lang="en-US" sz="2000" dirty="0">
              <a:solidFill>
                <a:srgbClr val="007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Imported historical stock price dataset into Power BI</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Cleaned and validated price and volume data</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Created date hierarchy (Date, Month, Year)</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Verified numeric fields such as Open, High, Low, Close, and Volume</a:t>
            </a:r>
          </a:p>
          <a:p>
            <a:pPr marL="0" indent="0">
              <a:buNone/>
            </a:pPr>
            <a:r>
              <a:rPr lang="en-US" sz="2000" b="1" dirty="0">
                <a:solidFill>
                  <a:srgbClr val="0070C0"/>
                </a:solidFill>
                <a:latin typeface="Times New Roman" panose="02020603050405020304" pitchFamily="18" charset="0"/>
                <a:cs typeface="Times New Roman" panose="02020603050405020304" pitchFamily="18" charset="0"/>
              </a:rPr>
              <a:t>Key Fields Used:</a:t>
            </a:r>
            <a:endParaRPr lang="en-US" sz="2000" dirty="0">
              <a:solidFill>
                <a:srgbClr val="007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Date</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Company Name</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Open, High, Low, Close Prices</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Volume</a:t>
            </a:r>
          </a:p>
          <a:p>
            <a:pPr marL="0" indent="0">
              <a:buNone/>
            </a:pPr>
            <a:r>
              <a:rPr lang="en-US" sz="2000" b="1" dirty="0">
                <a:solidFill>
                  <a:srgbClr val="0070C0"/>
                </a:solidFill>
                <a:latin typeface="Times New Roman" panose="02020603050405020304" pitchFamily="18" charset="0"/>
                <a:cs typeface="Times New Roman" panose="02020603050405020304" pitchFamily="18" charset="0"/>
              </a:rPr>
              <a:t>Purpose:</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To ensure accurate, consistent, and reliable stock market analysis.</a:t>
            </a:r>
          </a:p>
        </p:txBody>
      </p:sp>
    </p:spTree>
    <p:extLst>
      <p:ext uri="{BB962C8B-B14F-4D97-AF65-F5344CB8AC3E}">
        <p14:creationId xmlns:p14="http://schemas.microsoft.com/office/powerpoint/2010/main" val="339207138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C8BE9-C408-6237-5086-16DB984AC7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9D3881-164A-4364-683C-8960BE2B4548}"/>
              </a:ext>
            </a:extLst>
          </p:cNvPr>
          <p:cNvSpPr>
            <a:spLocks noGrp="1"/>
          </p:cNvSpPr>
          <p:nvPr>
            <p:ph type="title"/>
          </p:nvPr>
        </p:nvSpPr>
        <p:spPr>
          <a:xfrm>
            <a:off x="720966" y="263770"/>
            <a:ext cx="10515600" cy="751499"/>
          </a:xfrm>
        </p:spPr>
        <p:txBody>
          <a:bodyPr>
            <a:normAutofit/>
          </a:bodyPr>
          <a:lstStyle/>
          <a:p>
            <a:pPr algn="ctr"/>
            <a:r>
              <a:rPr lang="en-IN" sz="3600" b="1" dirty="0">
                <a:latin typeface="Times New Roman" panose="02020603050405020304" pitchFamily="18" charset="0"/>
                <a:cs typeface="Times New Roman" panose="02020603050405020304" pitchFamily="18" charset="0"/>
              </a:rPr>
              <a:t>CALCULATIONS &amp; KPIs</a:t>
            </a:r>
          </a:p>
        </p:txBody>
      </p:sp>
      <p:sp>
        <p:nvSpPr>
          <p:cNvPr id="3" name="Content Placeholder 2">
            <a:extLst>
              <a:ext uri="{FF2B5EF4-FFF2-40B4-BE49-F238E27FC236}">
                <a16:creationId xmlns:a16="http://schemas.microsoft.com/office/drawing/2014/main" id="{CCE32F4A-198D-DD91-FA77-A6D7975853D8}"/>
              </a:ext>
            </a:extLst>
          </p:cNvPr>
          <p:cNvSpPr>
            <a:spLocks noGrp="1"/>
          </p:cNvSpPr>
          <p:nvPr>
            <p:ph idx="1"/>
          </p:nvPr>
        </p:nvSpPr>
        <p:spPr>
          <a:xfrm>
            <a:off x="720967" y="1283676"/>
            <a:ext cx="10515601" cy="5231423"/>
          </a:xfrm>
        </p:spPr>
        <p:txBody>
          <a:bodyPr>
            <a:normAutofit fontScale="77500" lnSpcReduction="20000"/>
          </a:bodyPr>
          <a:lstStyle/>
          <a:p>
            <a:pPr marL="0" indent="0">
              <a:buNone/>
            </a:pPr>
            <a:endParaRPr lang="en-US" sz="2000" b="1" dirty="0">
              <a:solidFill>
                <a:srgbClr val="0070C0"/>
              </a:solidFill>
            </a:endParaRPr>
          </a:p>
          <a:p>
            <a:pPr marL="0" indent="0">
              <a:buNone/>
            </a:pPr>
            <a:endParaRPr lang="en-US" sz="2000" b="1" dirty="0">
              <a:solidFill>
                <a:srgbClr val="0070C0"/>
              </a:solidFill>
            </a:endParaRPr>
          </a:p>
          <a:p>
            <a:pPr marL="0" indent="0">
              <a:buNone/>
            </a:pPr>
            <a:r>
              <a:rPr lang="en-US" sz="2000" b="1" dirty="0">
                <a:solidFill>
                  <a:srgbClr val="0070C0"/>
                </a:solidFill>
              </a:rPr>
              <a:t>Measures Created:</a:t>
            </a:r>
            <a:endParaRPr lang="en-US" sz="2000" dirty="0">
              <a:solidFill>
                <a:srgbClr val="0070C0"/>
              </a:solidFill>
            </a:endParaRPr>
          </a:p>
          <a:p>
            <a:pPr>
              <a:buFont typeface="Wingdings" panose="05000000000000000000" pitchFamily="2" charset="2"/>
              <a:buChar char="v"/>
            </a:pPr>
            <a:r>
              <a:rPr lang="en-US" sz="2300" dirty="0">
                <a:solidFill>
                  <a:schemeClr val="accent2">
                    <a:lumMod val="75000"/>
                  </a:schemeClr>
                </a:solidFill>
                <a:latin typeface="Times New Roman" panose="02020603050405020304" pitchFamily="18" charset="0"/>
                <a:cs typeface="Times New Roman" panose="02020603050405020304" pitchFamily="18" charset="0"/>
              </a:rPr>
              <a:t>Highest Closing Price=</a:t>
            </a:r>
            <a:r>
              <a:rPr lang="en-IN" sz="2300" dirty="0">
                <a:latin typeface="Times New Roman" panose="02020603050405020304" pitchFamily="18" charset="0"/>
                <a:cs typeface="Times New Roman" panose="02020603050405020304" pitchFamily="18" charset="0"/>
              </a:rPr>
              <a:t>MAX(FactStockPrice[Close])</a:t>
            </a:r>
            <a:endParaRPr lang="en-US" sz="2300" dirty="0">
              <a:solidFill>
                <a:schemeClr val="accent2">
                  <a:lumMod val="75000"/>
                </a:schemeClr>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300" dirty="0">
                <a:solidFill>
                  <a:schemeClr val="accent2">
                    <a:lumMod val="75000"/>
                  </a:schemeClr>
                </a:solidFill>
                <a:latin typeface="Times New Roman" panose="02020603050405020304" pitchFamily="18" charset="0"/>
                <a:cs typeface="Times New Roman" panose="02020603050405020304" pitchFamily="18" charset="0"/>
              </a:rPr>
              <a:t>Lowest Closing Price=</a:t>
            </a:r>
            <a:r>
              <a:rPr lang="en-IN" sz="2300" dirty="0">
                <a:latin typeface="Times New Roman" panose="02020603050405020304" pitchFamily="18" charset="0"/>
                <a:cs typeface="Times New Roman" panose="02020603050405020304" pitchFamily="18" charset="0"/>
              </a:rPr>
              <a:t>MIN(FactStockPrice[Close])</a:t>
            </a:r>
            <a:endParaRPr lang="en-US" sz="2300" dirty="0">
              <a:solidFill>
                <a:schemeClr val="accent2">
                  <a:lumMod val="75000"/>
                </a:schemeClr>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300" dirty="0">
                <a:solidFill>
                  <a:schemeClr val="accent2">
                    <a:lumMod val="75000"/>
                  </a:schemeClr>
                </a:solidFill>
                <a:latin typeface="Times New Roman" panose="02020603050405020304" pitchFamily="18" charset="0"/>
                <a:cs typeface="Times New Roman" panose="02020603050405020304" pitchFamily="18" charset="0"/>
              </a:rPr>
              <a:t>Total Trading Volume=</a:t>
            </a:r>
            <a:r>
              <a:rPr lang="en-IN" sz="2300" dirty="0">
                <a:latin typeface="Times New Roman" panose="02020603050405020304" pitchFamily="18" charset="0"/>
                <a:cs typeface="Times New Roman" panose="02020603050405020304" pitchFamily="18" charset="0"/>
              </a:rPr>
              <a:t>MAX(FactStockPrice[Volume])</a:t>
            </a:r>
            <a:endParaRPr lang="en-US" sz="2300" dirty="0">
              <a:solidFill>
                <a:schemeClr val="accent2">
                  <a:lumMod val="75000"/>
                </a:schemeClr>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300" dirty="0">
                <a:solidFill>
                  <a:schemeClr val="accent2">
                    <a:lumMod val="75000"/>
                  </a:schemeClr>
                </a:solidFill>
                <a:latin typeface="Times New Roman" panose="02020603050405020304" pitchFamily="18" charset="0"/>
                <a:cs typeface="Times New Roman" panose="02020603050405020304" pitchFamily="18" charset="0"/>
              </a:rPr>
              <a:t>Daily Returns=</a:t>
            </a:r>
            <a:r>
              <a:rPr lang="en-US" sz="1900" dirty="0">
                <a:latin typeface="Times New Roman" panose="02020603050405020304" pitchFamily="18" charset="0"/>
                <a:cs typeface="Times New Roman" panose="02020603050405020304" pitchFamily="18" charset="0"/>
              </a:rPr>
              <a:t>DIVIDE(MAX(FactStockPrice[Close])MAX(FactStockPrice[Open]),MAX(FactStockPrice[Open]))</a:t>
            </a:r>
            <a:endParaRPr lang="en-US" sz="2300" dirty="0">
              <a:solidFill>
                <a:schemeClr val="accent2">
                  <a:lumMod val="75000"/>
                </a:schemeClr>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300" dirty="0">
                <a:solidFill>
                  <a:schemeClr val="accent2">
                    <a:lumMod val="75000"/>
                  </a:schemeClr>
                </a:solidFill>
                <a:latin typeface="Times New Roman" panose="02020603050405020304" pitchFamily="18" charset="0"/>
                <a:cs typeface="Times New Roman" panose="02020603050405020304" pitchFamily="18" charset="0"/>
              </a:rPr>
              <a:t>Volatility (Standard Deviation)=</a:t>
            </a:r>
            <a:r>
              <a:rPr lang="en-US" sz="2300" dirty="0">
                <a:latin typeface="Times New Roman" panose="02020603050405020304" pitchFamily="18" charset="0"/>
                <a:cs typeface="Times New Roman" panose="02020603050405020304" pitchFamily="18" charset="0"/>
              </a:rPr>
              <a:t>CALCULATE( STDEVX.P(FactStockPrice, FactStockPrice[Daily Return]))</a:t>
            </a:r>
          </a:p>
          <a:p>
            <a:pPr marL="0" indent="0">
              <a:buNone/>
            </a:pPr>
            <a:endParaRPr lang="en-US" sz="1700" dirty="0">
              <a:solidFill>
                <a:schemeClr val="accent2">
                  <a:lumMod val="75000"/>
                </a:schemeClr>
              </a:solidFill>
            </a:endParaRPr>
          </a:p>
          <a:p>
            <a:pPr>
              <a:buFont typeface="Wingdings" panose="05000000000000000000" pitchFamily="2" charset="2"/>
              <a:buChar char="v"/>
            </a:pPr>
            <a:endParaRPr lang="en-US" sz="2000" dirty="0"/>
          </a:p>
          <a:p>
            <a:pPr marL="0" indent="0">
              <a:buNone/>
            </a:pPr>
            <a:r>
              <a:rPr lang="en-US" sz="2000" b="1" dirty="0">
                <a:solidFill>
                  <a:srgbClr val="0070C0"/>
                </a:solidFill>
              </a:rPr>
              <a:t>Example Calculation:</a:t>
            </a:r>
          </a:p>
          <a:p>
            <a:pPr marL="0" indent="0">
              <a:buNone/>
            </a:pPr>
            <a:endParaRPr lang="en-US" sz="2000" b="1" dirty="0">
              <a:solidFill>
                <a:srgbClr val="0070C0"/>
              </a:solidFill>
            </a:endParaRPr>
          </a:p>
          <a:p>
            <a:pPr marL="0" indent="0">
              <a:buNone/>
            </a:pPr>
            <a:endParaRPr lang="en-US" sz="2000" dirty="0"/>
          </a:p>
          <a:p>
            <a:pPr marL="0" indent="0">
              <a:buNone/>
            </a:pPr>
            <a:endParaRPr lang="en-US" sz="2000" dirty="0"/>
          </a:p>
          <a:p>
            <a:pPr marL="0" indent="0">
              <a:buNone/>
            </a:pPr>
            <a:br>
              <a:rPr lang="en-US" sz="2000" dirty="0"/>
            </a:br>
            <a:r>
              <a:rPr lang="en-US" sz="2000" b="1" dirty="0">
                <a:solidFill>
                  <a:srgbClr val="0070C0"/>
                </a:solidFill>
              </a:rPr>
              <a:t>Purpose:</a:t>
            </a:r>
            <a:br>
              <a:rPr lang="en-US" sz="2000" dirty="0"/>
            </a:br>
            <a:r>
              <a:rPr lang="en-US" sz="2000" dirty="0"/>
              <a:t>To quantify stock performance, risk, and price movement behavior.</a:t>
            </a:r>
          </a:p>
        </p:txBody>
      </p:sp>
      <p:sp>
        <p:nvSpPr>
          <p:cNvPr id="4" name="TextBox 3">
            <a:extLst>
              <a:ext uri="{FF2B5EF4-FFF2-40B4-BE49-F238E27FC236}">
                <a16:creationId xmlns:a16="http://schemas.microsoft.com/office/drawing/2014/main" id="{189CB805-5791-8E7C-FCCB-C9568C701DA6}"/>
              </a:ext>
            </a:extLst>
          </p:cNvPr>
          <p:cNvSpPr txBox="1"/>
          <p:nvPr/>
        </p:nvSpPr>
        <p:spPr>
          <a:xfrm>
            <a:off x="2989385" y="4756638"/>
            <a:ext cx="5512777" cy="646331"/>
          </a:xfrm>
          <a:prstGeom prst="rect">
            <a:avLst/>
          </a:prstGeom>
          <a:noFill/>
          <a:ln>
            <a:solidFill>
              <a:schemeClr val="tx1"/>
            </a:solidFill>
          </a:ln>
        </p:spPr>
        <p:txBody>
          <a:bodyPr wrap="square" rtlCol="0">
            <a:spAutoFit/>
          </a:bodyPr>
          <a:lstStyle/>
          <a:p>
            <a:pPr algn="ctr"/>
            <a:r>
              <a:rPr lang="en-US" dirty="0"/>
              <a:t>Daily Return = (Close − Previous Close) / Previous Close</a:t>
            </a:r>
          </a:p>
          <a:p>
            <a:pPr algn="ctr"/>
            <a:endParaRPr lang="en-IN" dirty="0"/>
          </a:p>
        </p:txBody>
      </p:sp>
    </p:spTree>
    <p:extLst>
      <p:ext uri="{BB962C8B-B14F-4D97-AF65-F5344CB8AC3E}">
        <p14:creationId xmlns:p14="http://schemas.microsoft.com/office/powerpoint/2010/main" val="425099873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3F3A7-CDD9-C037-8AF7-95D29B9114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A7FAD8-BA43-A7F3-1715-25448A5810BB}"/>
              </a:ext>
            </a:extLst>
          </p:cNvPr>
          <p:cNvSpPr>
            <a:spLocks noGrp="1"/>
          </p:cNvSpPr>
          <p:nvPr>
            <p:ph type="title"/>
          </p:nvPr>
        </p:nvSpPr>
        <p:spPr>
          <a:xfrm>
            <a:off x="720966" y="211016"/>
            <a:ext cx="10515600" cy="751499"/>
          </a:xfrm>
        </p:spPr>
        <p:txBody>
          <a:bodyPr>
            <a:normAutofit/>
          </a:bodyPr>
          <a:lstStyle/>
          <a:p>
            <a:pPr algn="ctr"/>
            <a:r>
              <a:rPr lang="en-IN" sz="3600" b="1" dirty="0">
                <a:latin typeface="Times New Roman" panose="02020603050405020304" pitchFamily="18" charset="0"/>
                <a:cs typeface="Times New Roman" panose="02020603050405020304" pitchFamily="18" charset="0"/>
              </a:rPr>
              <a:t>VISUALIZATION TECHNIQUES</a:t>
            </a:r>
          </a:p>
        </p:txBody>
      </p:sp>
      <p:sp>
        <p:nvSpPr>
          <p:cNvPr id="3" name="Content Placeholder 2">
            <a:extLst>
              <a:ext uri="{FF2B5EF4-FFF2-40B4-BE49-F238E27FC236}">
                <a16:creationId xmlns:a16="http://schemas.microsoft.com/office/drawing/2014/main" id="{9DFB2334-B967-B549-C182-5E73211E5B6E}"/>
              </a:ext>
            </a:extLst>
          </p:cNvPr>
          <p:cNvSpPr>
            <a:spLocks noGrp="1"/>
          </p:cNvSpPr>
          <p:nvPr>
            <p:ph idx="1"/>
          </p:nvPr>
        </p:nvSpPr>
        <p:spPr>
          <a:xfrm>
            <a:off x="720965" y="1274884"/>
            <a:ext cx="10515601" cy="5231423"/>
          </a:xfrm>
        </p:spPr>
        <p:txBody>
          <a:bodyPr>
            <a:normAutofit/>
          </a:bodyPr>
          <a:lstStyle/>
          <a:p>
            <a:pPr marL="0" indent="0">
              <a:buNone/>
            </a:pPr>
            <a:r>
              <a:rPr lang="en-US" sz="2000" b="1" dirty="0">
                <a:solidFill>
                  <a:srgbClr val="0070C0"/>
                </a:solidFill>
                <a:latin typeface="Times New Roman" panose="02020603050405020304" pitchFamily="18" charset="0"/>
                <a:cs typeface="Times New Roman" panose="02020603050405020304" pitchFamily="18" charset="0"/>
              </a:rPr>
              <a:t>Visualization Techniques Used</a:t>
            </a:r>
          </a:p>
          <a:p>
            <a:pPr marL="0" indent="0" algn="just">
              <a:spcBef>
                <a:spcPts val="0"/>
              </a:spcBef>
              <a:buNone/>
            </a:pPr>
            <a:endParaRPr lang="en-US" sz="2000" b="1" dirty="0">
              <a:solidFill>
                <a:srgbClr val="0070C0"/>
              </a:solidFill>
              <a:latin typeface="Times New Roman" panose="02020603050405020304" pitchFamily="18" charset="0"/>
              <a:cs typeface="Times New Roman" panose="02020603050405020304" pitchFamily="18" charset="0"/>
            </a:endParaRPr>
          </a:p>
          <a:p>
            <a:pPr algn="just">
              <a:spcBef>
                <a:spcPts val="0"/>
              </a:spcBef>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KPI Cards for key stock metrics</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Line Charts for price and trend analysis</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Bar Charts for volume and comparison</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Clustered Charts for high vs low price comparison</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Table visual for detailed stock records</a:t>
            </a:r>
          </a:p>
          <a:p>
            <a:pPr>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pPr marL="0" indent="0">
              <a:buNone/>
            </a:pPr>
            <a:r>
              <a:rPr lang="en-US" sz="2000" b="1" dirty="0">
                <a:solidFill>
                  <a:srgbClr val="0070C0"/>
                </a:solidFill>
                <a:latin typeface="Times New Roman" panose="02020603050405020304" pitchFamily="18" charset="0"/>
                <a:cs typeface="Times New Roman" panose="02020603050405020304" pitchFamily="18" charset="0"/>
              </a:rPr>
              <a:t>Interactivity:</a:t>
            </a:r>
          </a:p>
          <a:p>
            <a:pPr marL="0" indent="0" algn="just">
              <a:spcBef>
                <a:spcPts val="600"/>
              </a:spcBef>
              <a:buNone/>
            </a:pPr>
            <a:endParaRPr lang="en-US" sz="2000" dirty="0">
              <a:solidFill>
                <a:srgbClr val="007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Slicers (Company Name, Date, Month-Year)</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Cross-filtering and drill-down</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Clear slicer button</a:t>
            </a:r>
          </a:p>
          <a:p>
            <a:pPr>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657121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1014" y="149469"/>
            <a:ext cx="11728939" cy="6638191"/>
          </a:xfrm>
        </p:spPr>
        <p:txBody>
          <a:bodyPr>
            <a:normAutofit/>
          </a:bodyPr>
          <a:lstStyle/>
          <a:p>
            <a:pPr marL="0" indent="0">
              <a:buNone/>
            </a:pPr>
            <a:r>
              <a:rPr lang="en-US" sz="1400" b="1" dirty="0">
                <a:solidFill>
                  <a:srgbClr val="0070C0"/>
                </a:solidFill>
                <a:latin typeface="Times New Roman" panose="02020603050405020304" pitchFamily="18" charset="0"/>
                <a:cs typeface="Times New Roman" panose="02020603050405020304" pitchFamily="18" charset="0"/>
              </a:rPr>
              <a:t>Dashboard Highlights:</a:t>
            </a:r>
            <a:endParaRPr lang="en-US" sz="1400" dirty="0">
              <a:solidFill>
                <a:srgbClr val="007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Highest and lowest closing prices</a:t>
            </a: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Highest trading volume</a:t>
            </a: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Most volatile company identification</a:t>
            </a: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Stock closing price trends</a:t>
            </a: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High and </a:t>
            </a:r>
            <a:r>
              <a:rPr lang="en-US" sz="1400" dirty="0" err="1">
                <a:latin typeface="Times New Roman" panose="02020603050405020304" pitchFamily="18" charset="0"/>
                <a:cs typeface="Times New Roman" panose="02020603050405020304" pitchFamily="18" charset="0"/>
              </a:rPr>
              <a:t>lowprice</a:t>
            </a:r>
            <a:r>
              <a:rPr lang="en-US" sz="1400" dirty="0">
                <a:latin typeface="Times New Roman" panose="02020603050405020304" pitchFamily="18" charset="0"/>
                <a:cs typeface="Times New Roman" panose="02020603050405020304" pitchFamily="18" charset="0"/>
              </a:rPr>
              <a:t> comparison across companies</a:t>
            </a:r>
          </a:p>
          <a:p>
            <a:pPr marL="0" indent="0">
              <a:buNone/>
            </a:pPr>
            <a:r>
              <a:rPr lang="en-US" sz="1400" b="1" dirty="0">
                <a:solidFill>
                  <a:srgbClr val="0070C0"/>
                </a:solidFill>
                <a:latin typeface="Times New Roman" panose="02020603050405020304" pitchFamily="18" charset="0"/>
                <a:cs typeface="Times New Roman" panose="02020603050405020304" pitchFamily="18" charset="0"/>
              </a:rPr>
              <a:t>Purpose:</a:t>
            </a:r>
          </a:p>
          <a:p>
            <a:pPr marL="0" indent="0" algn="just">
              <a:spcBef>
                <a:spcPts val="0"/>
              </a:spcBef>
              <a:buNone/>
            </a:pPr>
            <a:r>
              <a:rPr lang="en-US" sz="1400" dirty="0">
                <a:latin typeface="Times New Roman" panose="02020603050405020304" pitchFamily="18" charset="0"/>
                <a:cs typeface="Times New Roman" panose="02020603050405020304" pitchFamily="18" charset="0"/>
              </a:rPr>
              <a:t>Provide a high-level summary of overall stock market performance</a:t>
            </a:r>
          </a:p>
        </p:txBody>
      </p:sp>
      <p:pic>
        <p:nvPicPr>
          <p:cNvPr id="5" name="Picture" title="This slide contains the following visuals: shape ,HIGHEST CLOSE PRICE  ,LOWEST CLOSE PRICE ,HIGHEST VOLUME ,HIGHEST VOLATILITY ,MOST VOLATILE COMPANY ,STOCK CLOSING PRICE TREND  ,VOLUME BY COMPANY ,HIGH &amp;  LOW COMPARSION ,slicer ,slicer ,slicer ,actionButton. Please refer to the notes on this slide for details">
            <a:hlinkClick r:id="rId2"/>
          </p:cNvPr>
          <p:cNvPicPr>
            <a:picLocks noChangeAspect="1"/>
          </p:cNvPicPr>
          <p:nvPr/>
        </p:nvPicPr>
        <p:blipFill>
          <a:blip r:embed="rId3"/>
          <a:stretch>
            <a:fillRect/>
          </a:stretch>
        </p:blipFill>
        <p:spPr>
          <a:xfrm>
            <a:off x="252047" y="2540977"/>
            <a:ext cx="11301045" cy="4246683"/>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1015" y="123093"/>
            <a:ext cx="11473962" cy="6664568"/>
          </a:xfrm>
        </p:spPr>
        <p:txBody>
          <a:bodyPr>
            <a:normAutofit/>
          </a:bodyPr>
          <a:lstStyle/>
          <a:p>
            <a:pPr marL="0" indent="0">
              <a:buNone/>
            </a:pPr>
            <a:r>
              <a:rPr lang="en-US" sz="1400" b="1" dirty="0">
                <a:solidFill>
                  <a:srgbClr val="0070C0"/>
                </a:solidFill>
              </a:rPr>
              <a:t>Insights:</a:t>
            </a:r>
            <a:endParaRPr lang="en-US" sz="1400" dirty="0">
              <a:solidFill>
                <a:srgbClr val="0070C0"/>
              </a:solidFill>
            </a:endParaRPr>
          </a:p>
          <a:p>
            <a:pPr>
              <a:buFont typeface="Wingdings" panose="05000000000000000000" pitchFamily="2" charset="2"/>
              <a:buChar char="v"/>
            </a:pPr>
            <a:r>
              <a:rPr lang="en-US" sz="1400" dirty="0"/>
              <a:t>7-day moving average smooths short-term fluctuations</a:t>
            </a:r>
          </a:p>
          <a:p>
            <a:pPr>
              <a:buFont typeface="Wingdings" panose="05000000000000000000" pitchFamily="2" charset="2"/>
              <a:buChar char="v"/>
            </a:pPr>
            <a:r>
              <a:rPr lang="en-US" sz="1400" dirty="0"/>
              <a:t>Netflix Inc shows higher price range compared to others</a:t>
            </a:r>
          </a:p>
          <a:p>
            <a:pPr>
              <a:buFont typeface="Wingdings" panose="05000000000000000000" pitchFamily="2" charset="2"/>
              <a:buChar char="v"/>
            </a:pPr>
            <a:r>
              <a:rPr lang="en-US" sz="1400" dirty="0"/>
              <a:t>Apple and Microsoft exhibit relatively stable upward trends</a:t>
            </a:r>
          </a:p>
          <a:p>
            <a:pPr>
              <a:buFont typeface="Wingdings" panose="05000000000000000000" pitchFamily="2" charset="2"/>
              <a:buChar char="v"/>
            </a:pPr>
            <a:r>
              <a:rPr lang="en-US" sz="1400" dirty="0"/>
              <a:t>Trend analysis helps identify long-term price direction</a:t>
            </a:r>
          </a:p>
        </p:txBody>
      </p:sp>
      <p:pic>
        <p:nvPicPr>
          <p:cNvPr id="4" name="Picture" title="This slide contains the following visuals: 3M HIGH &amp; LOW  ,shape ,7-DAY MOVING AVG TRENDS  ,STOCK CLOSING PRICE TREND  ,slicer ,slicer ,textbox ,shape. Please refer to the notes on this slide for details">
            <a:hlinkClick r:id="rId2"/>
          </p:cNvPr>
          <p:cNvPicPr>
            <a:picLocks noChangeAspect="1"/>
          </p:cNvPicPr>
          <p:nvPr/>
        </p:nvPicPr>
        <p:blipFill>
          <a:blip r:embed="rId3"/>
          <a:stretch>
            <a:fillRect/>
          </a:stretch>
        </p:blipFill>
        <p:spPr>
          <a:xfrm>
            <a:off x="507023" y="1749670"/>
            <a:ext cx="11177954" cy="4791808"/>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1015" y="158263"/>
            <a:ext cx="11473962" cy="6629398"/>
          </a:xfrm>
        </p:spPr>
        <p:txBody>
          <a:bodyPr>
            <a:normAutofit/>
          </a:bodyPr>
          <a:lstStyle/>
          <a:p>
            <a:pPr marL="0" indent="0">
              <a:buNone/>
            </a:pPr>
            <a:r>
              <a:rPr lang="en-US" sz="1400" b="1" dirty="0">
                <a:solidFill>
                  <a:srgbClr val="0070C0"/>
                </a:solidFill>
                <a:latin typeface="Times New Roman" panose="02020603050405020304" pitchFamily="18" charset="0"/>
                <a:cs typeface="Times New Roman" panose="02020603050405020304" pitchFamily="18" charset="0"/>
              </a:rPr>
              <a:t>Insights:</a:t>
            </a:r>
            <a:endParaRPr lang="en-US" sz="1400" dirty="0">
              <a:solidFill>
                <a:srgbClr val="007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Volatility measured using standard deviation</a:t>
            </a: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Netflix Inc is identified as the most volatile stock</a:t>
            </a: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Apple Inc shows comparatively lower volatility</a:t>
            </a: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Daily return trends highlight risk and price fluctuations</a:t>
            </a:r>
          </a:p>
          <a:p>
            <a:pPr>
              <a:buFont typeface="Wingdings" panose="05000000000000000000" pitchFamily="2" charset="2"/>
              <a:buChar char="v"/>
            </a:pPr>
            <a:endParaRPr lang="en-US" sz="1400" dirty="0">
              <a:latin typeface="Times New Roman" panose="02020603050405020304" pitchFamily="18" charset="0"/>
              <a:cs typeface="Times New Roman" panose="02020603050405020304" pitchFamily="18" charset="0"/>
            </a:endParaRPr>
          </a:p>
        </p:txBody>
      </p:sp>
      <p:pic>
        <p:nvPicPr>
          <p:cNvPr id="4" name="Picture" title="This slide contains the following visuals: shape ,MOST VOLATILE COMPANY ,VOLATILITY BY COMPANY ,DAILY RETURNS TRENDS ,textbox ,shape. Please refer to the notes on this slide for details">
            <a:hlinkClick r:id="rId2"/>
          </p:cNvPr>
          <p:cNvPicPr>
            <a:picLocks noChangeAspect="1"/>
          </p:cNvPicPr>
          <p:nvPr/>
        </p:nvPicPr>
        <p:blipFill>
          <a:blip r:embed="rId3"/>
          <a:stretch>
            <a:fillRect/>
          </a:stretch>
        </p:blipFill>
        <p:spPr>
          <a:xfrm>
            <a:off x="325315" y="1802424"/>
            <a:ext cx="11359662" cy="4624754"/>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1015" y="167055"/>
            <a:ext cx="11473962" cy="6620605"/>
          </a:xfrm>
        </p:spPr>
        <p:txBody>
          <a:bodyPr>
            <a:normAutofit/>
          </a:bodyPr>
          <a:lstStyle/>
          <a:p>
            <a:pPr marL="0" indent="0">
              <a:buNone/>
            </a:pPr>
            <a:r>
              <a:rPr lang="en-US" sz="1400" b="1" dirty="0">
                <a:solidFill>
                  <a:srgbClr val="0070C0"/>
                </a:solidFill>
              </a:rPr>
              <a:t>Insights:</a:t>
            </a:r>
            <a:endParaRPr lang="en-US" sz="1400" dirty="0">
              <a:solidFill>
                <a:srgbClr val="0070C0"/>
              </a:solidFill>
            </a:endParaRPr>
          </a:p>
          <a:p>
            <a:pPr>
              <a:buFont typeface="Wingdings" panose="05000000000000000000" pitchFamily="2" charset="2"/>
              <a:buChar char="v"/>
            </a:pPr>
            <a:r>
              <a:rPr lang="en-US" sz="1400" dirty="0"/>
              <a:t>Netflix Inc has the highest average closing price</a:t>
            </a:r>
          </a:p>
          <a:p>
            <a:pPr>
              <a:buFont typeface="Wingdings" panose="05000000000000000000" pitchFamily="2" charset="2"/>
              <a:buChar char="v"/>
            </a:pPr>
            <a:r>
              <a:rPr lang="en-US" sz="1400" dirty="0"/>
              <a:t>Apple Inc records the highest trading volume</a:t>
            </a:r>
          </a:p>
          <a:p>
            <a:pPr>
              <a:buFont typeface="Wingdings" panose="05000000000000000000" pitchFamily="2" charset="2"/>
              <a:buChar char="v"/>
            </a:pPr>
            <a:r>
              <a:rPr lang="en-US" sz="1400" dirty="0"/>
              <a:t>Google Inc shows lower price and volume levels</a:t>
            </a:r>
          </a:p>
          <a:p>
            <a:pPr>
              <a:buFont typeface="Wingdings" panose="05000000000000000000" pitchFamily="2" charset="2"/>
              <a:buChar char="v"/>
            </a:pPr>
            <a:r>
              <a:rPr lang="en-US" sz="1400" dirty="0"/>
              <a:t>High vs Low price comparison reveals price spread differences</a:t>
            </a:r>
          </a:p>
        </p:txBody>
      </p:sp>
      <p:pic>
        <p:nvPicPr>
          <p:cNvPr id="4" name="Picture" title="This slide contains the following visuals: shape ,AVERAGE BY COMPANY ,TOTAL VOLUME BY COMPANY ,DAILY RETURNS TRENDS. Please refer to the notes on this slide for details">
            <a:hlinkClick r:id="rId2"/>
          </p:cNvPr>
          <p:cNvPicPr>
            <a:picLocks noChangeAspect="1"/>
          </p:cNvPicPr>
          <p:nvPr/>
        </p:nvPicPr>
        <p:blipFill>
          <a:blip r:embed="rId3"/>
          <a:stretch>
            <a:fillRect/>
          </a:stretch>
        </p:blipFill>
        <p:spPr>
          <a:xfrm>
            <a:off x="782515" y="1749670"/>
            <a:ext cx="10629900" cy="4826976"/>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1015" y="105509"/>
            <a:ext cx="11473962" cy="6682152"/>
          </a:xfrm>
        </p:spPr>
        <p:txBody>
          <a:bodyPr>
            <a:normAutofit/>
          </a:bodyPr>
          <a:lstStyle/>
          <a:p>
            <a:pPr marL="0" indent="0">
              <a:buNone/>
            </a:pPr>
            <a:r>
              <a:rPr lang="en-US" sz="1400" b="1" dirty="0">
                <a:solidFill>
                  <a:srgbClr val="0070C0"/>
                </a:solidFill>
                <a:latin typeface="Times New Roman" panose="02020603050405020304" pitchFamily="18" charset="0"/>
                <a:cs typeface="Times New Roman" panose="02020603050405020304" pitchFamily="18" charset="0"/>
              </a:rPr>
              <a:t>Insights:</a:t>
            </a:r>
            <a:endParaRPr lang="en-US" sz="1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Daily Open, High, Low, Close prices</a:t>
            </a: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Trading volume</a:t>
            </a: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Daily return values</a:t>
            </a:r>
          </a:p>
          <a:p>
            <a:pPr>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7-day moving average</a:t>
            </a:r>
          </a:p>
          <a:p>
            <a:pPr marL="0" indent="0">
              <a:buNone/>
            </a:pPr>
            <a:r>
              <a:rPr lang="en-US" sz="1400" b="1" dirty="0">
                <a:solidFill>
                  <a:srgbClr val="0070C0"/>
                </a:solidFill>
                <a:latin typeface="Times New Roman" panose="02020603050405020304" pitchFamily="18" charset="0"/>
                <a:cs typeface="Times New Roman" panose="02020603050405020304" pitchFamily="18" charset="0"/>
              </a:rPr>
              <a:t>Purpose:</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Enable detailed record-level analysis and validation.</a:t>
            </a:r>
          </a:p>
        </p:txBody>
      </p:sp>
      <p:pic>
        <p:nvPicPr>
          <p:cNvPr id="4" name="Picture" title="This slide contains the following visuals: tableEx ,shape. Please refer to the notes on this slide for details">
            <a:hlinkClick r:id="rId2"/>
          </p:cNvPr>
          <p:cNvPicPr>
            <a:picLocks noChangeAspect="1"/>
          </p:cNvPicPr>
          <p:nvPr/>
        </p:nvPicPr>
        <p:blipFill>
          <a:blip r:embed="rId3"/>
          <a:stretch>
            <a:fillRect/>
          </a:stretch>
        </p:blipFill>
        <p:spPr>
          <a:xfrm>
            <a:off x="316523" y="2180493"/>
            <a:ext cx="11368453" cy="4492870"/>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507A4-CCD7-6EA5-5463-51B1D8D018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BB9DBC-7A24-6EB7-1FE8-88AB23E6AF94}"/>
              </a:ext>
            </a:extLst>
          </p:cNvPr>
          <p:cNvSpPr>
            <a:spLocks noGrp="1"/>
          </p:cNvSpPr>
          <p:nvPr>
            <p:ph type="title"/>
          </p:nvPr>
        </p:nvSpPr>
        <p:spPr>
          <a:xfrm>
            <a:off x="668212" y="655270"/>
            <a:ext cx="10515600" cy="751499"/>
          </a:xfrm>
        </p:spPr>
        <p:txBody>
          <a:bodyPr>
            <a:normAutofit/>
          </a:bodyPr>
          <a:lstStyle/>
          <a:p>
            <a:pPr algn="ctr"/>
            <a:r>
              <a:rPr lang="en-IN" sz="3200" b="1" dirty="0">
                <a:latin typeface="Times New Roman" panose="02020603050405020304" pitchFamily="18" charset="0"/>
                <a:cs typeface="Times New Roman" panose="02020603050405020304" pitchFamily="18" charset="0"/>
              </a:rPr>
              <a:t>KEY FINDINGS</a:t>
            </a:r>
          </a:p>
        </p:txBody>
      </p:sp>
      <p:sp>
        <p:nvSpPr>
          <p:cNvPr id="3" name="Content Placeholder 2">
            <a:extLst>
              <a:ext uri="{FF2B5EF4-FFF2-40B4-BE49-F238E27FC236}">
                <a16:creationId xmlns:a16="http://schemas.microsoft.com/office/drawing/2014/main" id="{B4B88A64-6062-3529-73AC-51BDAEFF3A76}"/>
              </a:ext>
            </a:extLst>
          </p:cNvPr>
          <p:cNvSpPr>
            <a:spLocks noGrp="1"/>
          </p:cNvSpPr>
          <p:nvPr>
            <p:ph idx="1"/>
          </p:nvPr>
        </p:nvSpPr>
        <p:spPr>
          <a:xfrm>
            <a:off x="211015" y="1424354"/>
            <a:ext cx="11473962" cy="5363306"/>
          </a:xfrm>
        </p:spPr>
        <p:txBody>
          <a:bodyPr>
            <a:normAutofit/>
          </a:bodyPr>
          <a:lstStyle/>
          <a:p>
            <a:pPr marL="0" indent="0">
              <a:buNone/>
            </a:pPr>
            <a:endParaRPr lang="en-US" sz="2000" b="1" dirty="0">
              <a:solidFill>
                <a:srgbClr val="0070C0"/>
              </a:solidFill>
              <a:latin typeface="Times New Roman" panose="02020603050405020304" pitchFamily="18" charset="0"/>
              <a:cs typeface="Times New Roman" panose="02020603050405020304" pitchFamily="18" charset="0"/>
            </a:endParaRPr>
          </a:p>
          <a:p>
            <a:pPr marL="0" indent="0">
              <a:buNone/>
            </a:pPr>
            <a:endParaRPr lang="en-US" sz="2000" b="1" dirty="0">
              <a:solidFill>
                <a:srgbClr val="0070C0"/>
              </a:solidFill>
              <a:latin typeface="Times New Roman" panose="02020603050405020304" pitchFamily="18" charset="0"/>
              <a:cs typeface="Times New Roman" panose="02020603050405020304" pitchFamily="18" charset="0"/>
            </a:endParaRPr>
          </a:p>
          <a:p>
            <a:pPr marL="0" indent="0">
              <a:buNone/>
            </a:pPr>
            <a:endParaRPr lang="en-US" sz="2000" b="1" dirty="0">
              <a:solidFill>
                <a:srgbClr val="007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Netflix Inc is the most volatile stock among the selected companies</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Apple Inc leads in trading volume</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Moving averages help identify underlying price trends</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Volatility analysis assists in risk assessment</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Comparative analysis supports informed investment decisions</a:t>
            </a:r>
          </a:p>
        </p:txBody>
      </p:sp>
    </p:spTree>
    <p:extLst>
      <p:ext uri="{BB962C8B-B14F-4D97-AF65-F5344CB8AC3E}">
        <p14:creationId xmlns:p14="http://schemas.microsoft.com/office/powerpoint/2010/main" val="164534934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1E639-9B70-EADB-B15B-1677A6AD9A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441A1F-062A-22B5-62FD-DEC81139BB12}"/>
              </a:ext>
            </a:extLst>
          </p:cNvPr>
          <p:cNvSpPr>
            <a:spLocks noGrp="1"/>
          </p:cNvSpPr>
          <p:nvPr>
            <p:ph type="title"/>
          </p:nvPr>
        </p:nvSpPr>
        <p:spPr>
          <a:xfrm>
            <a:off x="712174" y="70339"/>
            <a:ext cx="10515600" cy="751499"/>
          </a:xfrm>
        </p:spPr>
        <p:txBody>
          <a:bodyPr>
            <a:normAutofit/>
          </a:bodyPr>
          <a:lstStyle/>
          <a:p>
            <a:pPr algn="ctr"/>
            <a:r>
              <a:rPr lang="en-IN" sz="3200" b="1" dirty="0">
                <a:latin typeface="Times New Roman" panose="02020603050405020304" pitchFamily="18" charset="0"/>
                <a:cs typeface="Times New Roman" panose="02020603050405020304" pitchFamily="18" charset="0"/>
              </a:rPr>
              <a:t>CONCLUSION &amp; FUTURE SCOPE</a:t>
            </a:r>
          </a:p>
        </p:txBody>
      </p:sp>
      <p:sp>
        <p:nvSpPr>
          <p:cNvPr id="3" name="Content Placeholder 2">
            <a:extLst>
              <a:ext uri="{FF2B5EF4-FFF2-40B4-BE49-F238E27FC236}">
                <a16:creationId xmlns:a16="http://schemas.microsoft.com/office/drawing/2014/main" id="{372B62A7-7519-E5FD-097D-B343E9BBC3E3}"/>
              </a:ext>
            </a:extLst>
          </p:cNvPr>
          <p:cNvSpPr>
            <a:spLocks noGrp="1"/>
          </p:cNvSpPr>
          <p:nvPr>
            <p:ph idx="1"/>
          </p:nvPr>
        </p:nvSpPr>
        <p:spPr>
          <a:xfrm>
            <a:off x="211015" y="747345"/>
            <a:ext cx="11473962" cy="6040315"/>
          </a:xfrm>
        </p:spPr>
        <p:txBody>
          <a:bodyPr>
            <a:normAutofit/>
          </a:bodyPr>
          <a:lstStyle/>
          <a:p>
            <a:pPr>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pPr marL="0" indent="0">
              <a:buNone/>
            </a:pPr>
            <a:r>
              <a:rPr lang="en-IN" sz="2000" b="1" dirty="0">
                <a:solidFill>
                  <a:srgbClr val="0070C0"/>
                </a:solidFill>
                <a:latin typeface="Times New Roman" panose="02020603050405020304" pitchFamily="18" charset="0"/>
                <a:cs typeface="Times New Roman" panose="02020603050405020304" pitchFamily="18" charset="0"/>
              </a:rPr>
              <a:t>Conclusion</a:t>
            </a:r>
            <a:endParaRPr lang="en-US" sz="2000" b="1" dirty="0">
              <a:solidFill>
                <a:srgbClr val="007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The Stock Market Analysis Dashboard effectively transforms historical stock price data into actionable insights. It helps analysts and investors understand trends, volatility, and comparative performance across major companies.</a:t>
            </a:r>
          </a:p>
          <a:p>
            <a:pPr>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pPr marL="0" indent="0">
              <a:buNone/>
            </a:pPr>
            <a:r>
              <a:rPr lang="en-US" sz="2000" b="1" dirty="0">
                <a:solidFill>
                  <a:srgbClr val="0070C0"/>
                </a:solidFill>
                <a:latin typeface="Times New Roman" panose="02020603050405020304" pitchFamily="18" charset="0"/>
                <a:cs typeface="Times New Roman" panose="02020603050405020304" pitchFamily="18" charset="0"/>
              </a:rPr>
              <a:t>Future Enhancements</a:t>
            </a:r>
          </a:p>
          <a:p>
            <a:pPr marL="0" indent="0">
              <a:buNone/>
            </a:pPr>
            <a:endParaRPr lang="en-US" sz="2000" b="1" dirty="0">
              <a:solidFill>
                <a:srgbClr val="007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Longer time-period analysis</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Technical indicators (RSI, MACD)</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Correlation analysis between stocks</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Integration with real-time market data</a:t>
            </a:r>
          </a:p>
        </p:txBody>
      </p:sp>
    </p:spTree>
    <p:extLst>
      <p:ext uri="{BB962C8B-B14F-4D97-AF65-F5344CB8AC3E}">
        <p14:creationId xmlns:p14="http://schemas.microsoft.com/office/powerpoint/2010/main" val="296175871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669</Words>
  <Application>Microsoft Office PowerPoint</Application>
  <PresentationFormat>Widescreen</PresentationFormat>
  <Paragraphs>121</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Calibri Light</vt:lpstr>
      <vt:lpstr>Times New Roman</vt:lpstr>
      <vt:lpstr>Wingdings</vt:lpstr>
      <vt:lpstr>Custom Design</vt:lpstr>
      <vt:lpstr>STOCK MARKET ANALYSIS DASHBOARD</vt:lpstr>
      <vt:lpstr>PROBLEM STATEMENT</vt:lpstr>
      <vt:lpstr>PROJECT OBJECTIVES</vt:lpstr>
      <vt:lpstr>DATA PREPARATION (TECHNIQUES)</vt:lpstr>
      <vt:lpstr>CALCULATIONS &amp; KPIs</vt:lpstr>
      <vt:lpstr>VISUALIZATION TECHNIQUES</vt:lpstr>
      <vt:lpstr>PowerPoint Presentation</vt:lpstr>
      <vt:lpstr>PowerPoint Presentation</vt:lpstr>
      <vt:lpstr>PowerPoint Presentation</vt:lpstr>
      <vt:lpstr>PowerPoint Presentation</vt:lpstr>
      <vt:lpstr>PowerPoint Presentation</vt:lpstr>
      <vt:lpstr>KEY FINDINGS</vt:lpstr>
      <vt:lpstr>CONCLUSION &amp; FUTURE SCOPE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HARISH  V</cp:lastModifiedBy>
  <cp:revision>6</cp:revision>
  <dcterms:created xsi:type="dcterms:W3CDTF">2016-09-04T11:54:00Z</dcterms:created>
  <dcterms:modified xsi:type="dcterms:W3CDTF">2025-12-28T17:05:22Z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E20963065A3F4F2B97F2B2F969FB180D_13</vt:lpwstr>
  </property>
  <property fmtid="{D5CDD505-2E9C-101B-9397-08002B2CF9AE}" pid="3" name="KSOProductBuildVer">
    <vt:lpwstr>1033-12.2.0.23196</vt:lpwstr>
  </property>
</Properties>
</file>